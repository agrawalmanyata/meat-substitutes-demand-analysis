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78" r:id="rId5"/>
    <p:sldId id="277" r:id="rId6"/>
    <p:sldId id="259" r:id="rId7"/>
    <p:sldId id="270" r:id="rId8"/>
    <p:sldId id="261" r:id="rId9"/>
    <p:sldId id="262" r:id="rId10"/>
    <p:sldId id="263" r:id="rId11"/>
    <p:sldId id="265" r:id="rId12"/>
    <p:sldId id="266" r:id="rId13"/>
    <p:sldId id="271" r:id="rId14"/>
    <p:sldId id="267" r:id="rId15"/>
    <p:sldId id="268" r:id="rId16"/>
    <p:sldId id="269" r:id="rId17"/>
    <p:sldId id="272" r:id="rId18"/>
    <p:sldId id="273" r:id="rId19"/>
    <p:sldId id="274" r:id="rId20"/>
    <p:sldId id="275" r:id="rId21"/>
    <p:sldId id="276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C26"/>
    <a:srgbClr val="00761E"/>
    <a:srgbClr val="346E4B"/>
    <a:srgbClr val="34A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20"/>
    <p:restoredTop sz="94729"/>
  </p:normalViewPr>
  <p:slideViewPr>
    <p:cSldViewPr snapToGrid="0">
      <p:cViewPr varScale="1">
        <p:scale>
          <a:sx n="101" d="100"/>
          <a:sy n="101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204CF1-19B2-4C37-BDBE-D0D7C4EC9CF1}" type="doc">
      <dgm:prSet loTypeId="urn:microsoft.com/office/officeart/2005/8/layout/vProcess5" loCatId="process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5FFE96A-5AB3-4DD3-B2FA-C6FC7D3D48D2}">
      <dgm:prSet/>
      <dgm:spPr/>
      <dgm:t>
        <a:bodyPr/>
        <a:lstStyle/>
        <a:p>
          <a:r>
            <a:rPr lang="en-US" dirty="0"/>
            <a:t>Impossible’s ACV reached ~40% (Conagra ~10–14%)</a:t>
          </a:r>
        </a:p>
      </dgm:t>
    </dgm:pt>
    <dgm:pt modelId="{D698C873-D1F8-40EB-879A-A16FF308235C}" type="parTrans" cxnId="{0952B3DD-ED97-4104-AC78-66D744CD8A7F}">
      <dgm:prSet/>
      <dgm:spPr/>
      <dgm:t>
        <a:bodyPr/>
        <a:lstStyle/>
        <a:p>
          <a:endParaRPr lang="en-US"/>
        </a:p>
      </dgm:t>
    </dgm:pt>
    <dgm:pt modelId="{CC3923F8-54E0-4C9B-AAAB-C907591BD7DD}" type="sibTrans" cxnId="{0952B3DD-ED97-4104-AC78-66D744CD8A7F}">
      <dgm:prSet/>
      <dgm:spPr/>
      <dgm:t>
        <a:bodyPr/>
        <a:lstStyle/>
        <a:p>
          <a:endParaRPr lang="en-US"/>
        </a:p>
      </dgm:t>
    </dgm:pt>
    <dgm:pt modelId="{88383FD7-D08E-4B9B-AEA6-0865E7626D36}">
      <dgm:prSet/>
      <dgm:spPr/>
      <dgm:t>
        <a:bodyPr/>
        <a:lstStyle/>
        <a:p>
          <a:r>
            <a:rPr lang="en-US" dirty="0"/>
            <a:t>Competitors operate with fewer SKUs and tighter brand identity</a:t>
          </a:r>
        </a:p>
      </dgm:t>
    </dgm:pt>
    <dgm:pt modelId="{9C02E14A-12E1-43B0-85C3-478FB1859552}" type="parTrans" cxnId="{DEFF0548-3AF6-4B28-9C10-D0AFB7157CB3}">
      <dgm:prSet/>
      <dgm:spPr/>
      <dgm:t>
        <a:bodyPr/>
        <a:lstStyle/>
        <a:p>
          <a:endParaRPr lang="en-US"/>
        </a:p>
      </dgm:t>
    </dgm:pt>
    <dgm:pt modelId="{0E7CE2EE-654C-4E31-B9C9-55EE3C46B1A8}" type="sibTrans" cxnId="{DEFF0548-3AF6-4B28-9C10-D0AFB7157CB3}">
      <dgm:prSet/>
      <dgm:spPr/>
      <dgm:t>
        <a:bodyPr/>
        <a:lstStyle/>
        <a:p>
          <a:endParaRPr lang="en-US"/>
        </a:p>
      </dgm:t>
    </dgm:pt>
    <dgm:pt modelId="{AB473041-BBC8-409F-982F-91D790007200}">
      <dgm:prSet/>
      <dgm:spPr/>
      <dgm:t>
        <a:bodyPr/>
        <a:lstStyle/>
        <a:p>
          <a:r>
            <a:rPr lang="en-US" dirty="0"/>
            <a:t>Conagra’s broad assortment creates mixed performance</a:t>
          </a:r>
        </a:p>
      </dgm:t>
    </dgm:pt>
    <dgm:pt modelId="{59B408AA-2D93-4EB5-9191-835547CF8BEF}" type="parTrans" cxnId="{9B612E7F-6940-4A10-8513-C71E9125591E}">
      <dgm:prSet/>
      <dgm:spPr/>
      <dgm:t>
        <a:bodyPr/>
        <a:lstStyle/>
        <a:p>
          <a:endParaRPr lang="en-US"/>
        </a:p>
      </dgm:t>
    </dgm:pt>
    <dgm:pt modelId="{34B088DE-7A56-4C4F-894F-1F02A3ABD743}" type="sibTrans" cxnId="{9B612E7F-6940-4A10-8513-C71E9125591E}">
      <dgm:prSet/>
      <dgm:spPr/>
      <dgm:t>
        <a:bodyPr/>
        <a:lstStyle/>
        <a:p>
          <a:endParaRPr lang="en-US"/>
        </a:p>
      </dgm:t>
    </dgm:pt>
    <dgm:pt modelId="{4A9648F0-5B3E-4FA0-BD64-572BA88357DA}">
      <dgm:prSet/>
      <dgm:spPr/>
      <dgm:t>
        <a:bodyPr/>
        <a:lstStyle/>
        <a:p>
          <a:r>
            <a:rPr lang="en-US"/>
            <a:t>Higher SKU count increases internal cannibalization</a:t>
          </a:r>
        </a:p>
      </dgm:t>
    </dgm:pt>
    <dgm:pt modelId="{09C4B189-606C-4391-8772-522CB35C63FA}" type="parTrans" cxnId="{D6256BF5-0AEB-4189-AAE1-28EA2D6A8213}">
      <dgm:prSet/>
      <dgm:spPr/>
      <dgm:t>
        <a:bodyPr/>
        <a:lstStyle/>
        <a:p>
          <a:endParaRPr lang="en-US"/>
        </a:p>
      </dgm:t>
    </dgm:pt>
    <dgm:pt modelId="{E2046BFD-6902-45E7-99C5-2F9D0F1F862E}" type="sibTrans" cxnId="{D6256BF5-0AEB-4189-AAE1-28EA2D6A8213}">
      <dgm:prSet/>
      <dgm:spPr/>
      <dgm:t>
        <a:bodyPr/>
        <a:lstStyle/>
        <a:p>
          <a:endParaRPr lang="en-US"/>
        </a:p>
      </dgm:t>
    </dgm:pt>
    <dgm:pt modelId="{44AB09E4-3E4E-494E-B41C-031C350132AB}" type="pres">
      <dgm:prSet presAssocID="{F9204CF1-19B2-4C37-BDBE-D0D7C4EC9CF1}" presName="outerComposite" presStyleCnt="0">
        <dgm:presLayoutVars>
          <dgm:chMax val="5"/>
          <dgm:dir/>
          <dgm:resizeHandles val="exact"/>
        </dgm:presLayoutVars>
      </dgm:prSet>
      <dgm:spPr/>
    </dgm:pt>
    <dgm:pt modelId="{EB59BA62-1C77-A044-ACCD-F78898453DC5}" type="pres">
      <dgm:prSet presAssocID="{F9204CF1-19B2-4C37-BDBE-D0D7C4EC9CF1}" presName="dummyMaxCanvas" presStyleCnt="0">
        <dgm:presLayoutVars/>
      </dgm:prSet>
      <dgm:spPr/>
    </dgm:pt>
    <dgm:pt modelId="{D70D519C-3465-5546-AFE2-D64A24DD7E4C}" type="pres">
      <dgm:prSet presAssocID="{F9204CF1-19B2-4C37-BDBE-D0D7C4EC9CF1}" presName="FourNodes_1" presStyleLbl="node1" presStyleIdx="0" presStyleCnt="4">
        <dgm:presLayoutVars>
          <dgm:bulletEnabled val="1"/>
        </dgm:presLayoutVars>
      </dgm:prSet>
      <dgm:spPr/>
    </dgm:pt>
    <dgm:pt modelId="{5AF37C34-99AA-744E-B86A-20C62F38DFFE}" type="pres">
      <dgm:prSet presAssocID="{F9204CF1-19B2-4C37-BDBE-D0D7C4EC9CF1}" presName="FourNodes_2" presStyleLbl="node1" presStyleIdx="1" presStyleCnt="4">
        <dgm:presLayoutVars>
          <dgm:bulletEnabled val="1"/>
        </dgm:presLayoutVars>
      </dgm:prSet>
      <dgm:spPr/>
    </dgm:pt>
    <dgm:pt modelId="{A5029B72-6EAB-EE43-9A47-F429A4B5833E}" type="pres">
      <dgm:prSet presAssocID="{F9204CF1-19B2-4C37-BDBE-D0D7C4EC9CF1}" presName="FourNodes_3" presStyleLbl="node1" presStyleIdx="2" presStyleCnt="4">
        <dgm:presLayoutVars>
          <dgm:bulletEnabled val="1"/>
        </dgm:presLayoutVars>
      </dgm:prSet>
      <dgm:spPr/>
    </dgm:pt>
    <dgm:pt modelId="{8C7C0B04-026E-E44F-AFC1-7F8380F5A3C0}" type="pres">
      <dgm:prSet presAssocID="{F9204CF1-19B2-4C37-BDBE-D0D7C4EC9CF1}" presName="FourNodes_4" presStyleLbl="node1" presStyleIdx="3" presStyleCnt="4">
        <dgm:presLayoutVars>
          <dgm:bulletEnabled val="1"/>
        </dgm:presLayoutVars>
      </dgm:prSet>
      <dgm:spPr/>
    </dgm:pt>
    <dgm:pt modelId="{031DE2D3-01F7-514E-A266-AFF239F64716}" type="pres">
      <dgm:prSet presAssocID="{F9204CF1-19B2-4C37-BDBE-D0D7C4EC9CF1}" presName="FourConn_1-2" presStyleLbl="fgAccFollowNode1" presStyleIdx="0" presStyleCnt="3">
        <dgm:presLayoutVars>
          <dgm:bulletEnabled val="1"/>
        </dgm:presLayoutVars>
      </dgm:prSet>
      <dgm:spPr/>
    </dgm:pt>
    <dgm:pt modelId="{0BF29779-5A71-A94F-A6BA-A477EC1FC505}" type="pres">
      <dgm:prSet presAssocID="{F9204CF1-19B2-4C37-BDBE-D0D7C4EC9CF1}" presName="FourConn_2-3" presStyleLbl="fgAccFollowNode1" presStyleIdx="1" presStyleCnt="3">
        <dgm:presLayoutVars>
          <dgm:bulletEnabled val="1"/>
        </dgm:presLayoutVars>
      </dgm:prSet>
      <dgm:spPr/>
    </dgm:pt>
    <dgm:pt modelId="{FA0EF690-3344-F340-A3B7-CD6179C16034}" type="pres">
      <dgm:prSet presAssocID="{F9204CF1-19B2-4C37-BDBE-D0D7C4EC9CF1}" presName="FourConn_3-4" presStyleLbl="fgAccFollowNode1" presStyleIdx="2" presStyleCnt="3">
        <dgm:presLayoutVars>
          <dgm:bulletEnabled val="1"/>
        </dgm:presLayoutVars>
      </dgm:prSet>
      <dgm:spPr/>
    </dgm:pt>
    <dgm:pt modelId="{34B1E64F-B738-8E49-AF62-40C6FD8BC5E3}" type="pres">
      <dgm:prSet presAssocID="{F9204CF1-19B2-4C37-BDBE-D0D7C4EC9CF1}" presName="FourNodes_1_text" presStyleLbl="node1" presStyleIdx="3" presStyleCnt="4">
        <dgm:presLayoutVars>
          <dgm:bulletEnabled val="1"/>
        </dgm:presLayoutVars>
      </dgm:prSet>
      <dgm:spPr/>
    </dgm:pt>
    <dgm:pt modelId="{1AB0BC70-798D-6D4D-8CB9-89989B799251}" type="pres">
      <dgm:prSet presAssocID="{F9204CF1-19B2-4C37-BDBE-D0D7C4EC9CF1}" presName="FourNodes_2_text" presStyleLbl="node1" presStyleIdx="3" presStyleCnt="4">
        <dgm:presLayoutVars>
          <dgm:bulletEnabled val="1"/>
        </dgm:presLayoutVars>
      </dgm:prSet>
      <dgm:spPr/>
    </dgm:pt>
    <dgm:pt modelId="{2AC24AF2-C200-094A-A60A-9FA449CBC435}" type="pres">
      <dgm:prSet presAssocID="{F9204CF1-19B2-4C37-BDBE-D0D7C4EC9CF1}" presName="FourNodes_3_text" presStyleLbl="node1" presStyleIdx="3" presStyleCnt="4">
        <dgm:presLayoutVars>
          <dgm:bulletEnabled val="1"/>
        </dgm:presLayoutVars>
      </dgm:prSet>
      <dgm:spPr/>
    </dgm:pt>
    <dgm:pt modelId="{D7C6CCC8-707D-4941-BADB-2C31B21CA56B}" type="pres">
      <dgm:prSet presAssocID="{F9204CF1-19B2-4C37-BDBE-D0D7C4EC9CF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4FD290A-8DE9-124C-A6DF-F3A6ADE3390A}" type="presOf" srcId="{AB473041-BBC8-409F-982F-91D790007200}" destId="{A5029B72-6EAB-EE43-9A47-F429A4B5833E}" srcOrd="0" destOrd="0" presId="urn:microsoft.com/office/officeart/2005/8/layout/vProcess5"/>
    <dgm:cxn modelId="{D42AA122-A04D-B64D-9ED7-65990D8D46E8}" type="presOf" srcId="{4A9648F0-5B3E-4FA0-BD64-572BA88357DA}" destId="{8C7C0B04-026E-E44F-AFC1-7F8380F5A3C0}" srcOrd="0" destOrd="0" presId="urn:microsoft.com/office/officeart/2005/8/layout/vProcess5"/>
    <dgm:cxn modelId="{07A01623-7690-9A49-8A00-3451ECAA9ABB}" type="presOf" srcId="{05FFE96A-5AB3-4DD3-B2FA-C6FC7D3D48D2}" destId="{34B1E64F-B738-8E49-AF62-40C6FD8BC5E3}" srcOrd="1" destOrd="0" presId="urn:microsoft.com/office/officeart/2005/8/layout/vProcess5"/>
    <dgm:cxn modelId="{12C4F029-F42C-7848-9AA8-CDC1230C847B}" type="presOf" srcId="{05FFE96A-5AB3-4DD3-B2FA-C6FC7D3D48D2}" destId="{D70D519C-3465-5546-AFE2-D64A24DD7E4C}" srcOrd="0" destOrd="0" presId="urn:microsoft.com/office/officeart/2005/8/layout/vProcess5"/>
    <dgm:cxn modelId="{C88C4831-D5A3-4F4A-AF55-E45A2ECFA2BC}" type="presOf" srcId="{88383FD7-D08E-4B9B-AEA6-0865E7626D36}" destId="{5AF37C34-99AA-744E-B86A-20C62F38DFFE}" srcOrd="0" destOrd="0" presId="urn:microsoft.com/office/officeart/2005/8/layout/vProcess5"/>
    <dgm:cxn modelId="{DEFF0548-3AF6-4B28-9C10-D0AFB7157CB3}" srcId="{F9204CF1-19B2-4C37-BDBE-D0D7C4EC9CF1}" destId="{88383FD7-D08E-4B9B-AEA6-0865E7626D36}" srcOrd="1" destOrd="0" parTransId="{9C02E14A-12E1-43B0-85C3-478FB1859552}" sibTransId="{0E7CE2EE-654C-4E31-B9C9-55EE3C46B1A8}"/>
    <dgm:cxn modelId="{F3D9ED78-6458-B248-879F-23D6B23687B0}" type="presOf" srcId="{F9204CF1-19B2-4C37-BDBE-D0D7C4EC9CF1}" destId="{44AB09E4-3E4E-494E-B41C-031C350132AB}" srcOrd="0" destOrd="0" presId="urn:microsoft.com/office/officeart/2005/8/layout/vProcess5"/>
    <dgm:cxn modelId="{DCFF397C-D8EF-3F48-A1F1-9C6877D0EFAB}" type="presOf" srcId="{CC3923F8-54E0-4C9B-AAAB-C907591BD7DD}" destId="{031DE2D3-01F7-514E-A266-AFF239F64716}" srcOrd="0" destOrd="0" presId="urn:microsoft.com/office/officeart/2005/8/layout/vProcess5"/>
    <dgm:cxn modelId="{9B612E7F-6940-4A10-8513-C71E9125591E}" srcId="{F9204CF1-19B2-4C37-BDBE-D0D7C4EC9CF1}" destId="{AB473041-BBC8-409F-982F-91D790007200}" srcOrd="2" destOrd="0" parTransId="{59B408AA-2D93-4EB5-9191-835547CF8BEF}" sibTransId="{34B088DE-7A56-4C4F-894F-1F02A3ABD743}"/>
    <dgm:cxn modelId="{4A3E6EB8-F05F-244A-BF7E-0C3BDB97D0AD}" type="presOf" srcId="{0E7CE2EE-654C-4E31-B9C9-55EE3C46B1A8}" destId="{0BF29779-5A71-A94F-A6BA-A477EC1FC505}" srcOrd="0" destOrd="0" presId="urn:microsoft.com/office/officeart/2005/8/layout/vProcess5"/>
    <dgm:cxn modelId="{A591EFD5-680E-EA43-938D-E0F03ABD0206}" type="presOf" srcId="{88383FD7-D08E-4B9B-AEA6-0865E7626D36}" destId="{1AB0BC70-798D-6D4D-8CB9-89989B799251}" srcOrd="1" destOrd="0" presId="urn:microsoft.com/office/officeart/2005/8/layout/vProcess5"/>
    <dgm:cxn modelId="{F78A28DA-8243-2B41-BD22-B3D589EDEF0A}" type="presOf" srcId="{AB473041-BBC8-409F-982F-91D790007200}" destId="{2AC24AF2-C200-094A-A60A-9FA449CBC435}" srcOrd="1" destOrd="0" presId="urn:microsoft.com/office/officeart/2005/8/layout/vProcess5"/>
    <dgm:cxn modelId="{0952B3DD-ED97-4104-AC78-66D744CD8A7F}" srcId="{F9204CF1-19B2-4C37-BDBE-D0D7C4EC9CF1}" destId="{05FFE96A-5AB3-4DD3-B2FA-C6FC7D3D48D2}" srcOrd="0" destOrd="0" parTransId="{D698C873-D1F8-40EB-879A-A16FF308235C}" sibTransId="{CC3923F8-54E0-4C9B-AAAB-C907591BD7DD}"/>
    <dgm:cxn modelId="{7BE3FCE6-AAE3-DF46-ACF3-02E3B7B7FA98}" type="presOf" srcId="{34B088DE-7A56-4C4F-894F-1F02A3ABD743}" destId="{FA0EF690-3344-F340-A3B7-CD6179C16034}" srcOrd="0" destOrd="0" presId="urn:microsoft.com/office/officeart/2005/8/layout/vProcess5"/>
    <dgm:cxn modelId="{851B89E7-0625-CA4E-AA24-43CC971E341E}" type="presOf" srcId="{4A9648F0-5B3E-4FA0-BD64-572BA88357DA}" destId="{D7C6CCC8-707D-4941-BADB-2C31B21CA56B}" srcOrd="1" destOrd="0" presId="urn:microsoft.com/office/officeart/2005/8/layout/vProcess5"/>
    <dgm:cxn modelId="{D6256BF5-0AEB-4189-AAE1-28EA2D6A8213}" srcId="{F9204CF1-19B2-4C37-BDBE-D0D7C4EC9CF1}" destId="{4A9648F0-5B3E-4FA0-BD64-572BA88357DA}" srcOrd="3" destOrd="0" parTransId="{09C4B189-606C-4391-8772-522CB35C63FA}" sibTransId="{E2046BFD-6902-45E7-99C5-2F9D0F1F862E}"/>
    <dgm:cxn modelId="{4E173C0A-F03A-C84C-A8A6-FF90FD1EB127}" type="presParOf" srcId="{44AB09E4-3E4E-494E-B41C-031C350132AB}" destId="{EB59BA62-1C77-A044-ACCD-F78898453DC5}" srcOrd="0" destOrd="0" presId="urn:microsoft.com/office/officeart/2005/8/layout/vProcess5"/>
    <dgm:cxn modelId="{08C05C53-E808-184C-86BB-AFD944E9C9D5}" type="presParOf" srcId="{44AB09E4-3E4E-494E-B41C-031C350132AB}" destId="{D70D519C-3465-5546-AFE2-D64A24DD7E4C}" srcOrd="1" destOrd="0" presId="urn:microsoft.com/office/officeart/2005/8/layout/vProcess5"/>
    <dgm:cxn modelId="{0CB1CC99-FE72-9242-9666-6A2467E86946}" type="presParOf" srcId="{44AB09E4-3E4E-494E-B41C-031C350132AB}" destId="{5AF37C34-99AA-744E-B86A-20C62F38DFFE}" srcOrd="2" destOrd="0" presId="urn:microsoft.com/office/officeart/2005/8/layout/vProcess5"/>
    <dgm:cxn modelId="{CBF8B7FA-7A36-1D46-9E29-2B8FAF1FDBFA}" type="presParOf" srcId="{44AB09E4-3E4E-494E-B41C-031C350132AB}" destId="{A5029B72-6EAB-EE43-9A47-F429A4B5833E}" srcOrd="3" destOrd="0" presId="urn:microsoft.com/office/officeart/2005/8/layout/vProcess5"/>
    <dgm:cxn modelId="{B329C438-6D9C-BA46-BADB-D57D4E16B9BC}" type="presParOf" srcId="{44AB09E4-3E4E-494E-B41C-031C350132AB}" destId="{8C7C0B04-026E-E44F-AFC1-7F8380F5A3C0}" srcOrd="4" destOrd="0" presId="urn:microsoft.com/office/officeart/2005/8/layout/vProcess5"/>
    <dgm:cxn modelId="{475BF9D4-0286-0D48-B59F-A32E2CF032AB}" type="presParOf" srcId="{44AB09E4-3E4E-494E-B41C-031C350132AB}" destId="{031DE2D3-01F7-514E-A266-AFF239F64716}" srcOrd="5" destOrd="0" presId="urn:microsoft.com/office/officeart/2005/8/layout/vProcess5"/>
    <dgm:cxn modelId="{F3F71980-ED9D-554C-8D5F-93ACD0397AA7}" type="presParOf" srcId="{44AB09E4-3E4E-494E-B41C-031C350132AB}" destId="{0BF29779-5A71-A94F-A6BA-A477EC1FC505}" srcOrd="6" destOrd="0" presId="urn:microsoft.com/office/officeart/2005/8/layout/vProcess5"/>
    <dgm:cxn modelId="{DC02DC68-5DF1-884A-9590-C726A5363BC0}" type="presParOf" srcId="{44AB09E4-3E4E-494E-B41C-031C350132AB}" destId="{FA0EF690-3344-F340-A3B7-CD6179C16034}" srcOrd="7" destOrd="0" presId="urn:microsoft.com/office/officeart/2005/8/layout/vProcess5"/>
    <dgm:cxn modelId="{303D474A-BA79-584D-B5CD-436A05C7A109}" type="presParOf" srcId="{44AB09E4-3E4E-494E-B41C-031C350132AB}" destId="{34B1E64F-B738-8E49-AF62-40C6FD8BC5E3}" srcOrd="8" destOrd="0" presId="urn:microsoft.com/office/officeart/2005/8/layout/vProcess5"/>
    <dgm:cxn modelId="{4176D42D-A932-F445-9014-0E7FE14809B5}" type="presParOf" srcId="{44AB09E4-3E4E-494E-B41C-031C350132AB}" destId="{1AB0BC70-798D-6D4D-8CB9-89989B799251}" srcOrd="9" destOrd="0" presId="urn:microsoft.com/office/officeart/2005/8/layout/vProcess5"/>
    <dgm:cxn modelId="{3B9888A1-5634-8747-864A-FFAF18FBFAF8}" type="presParOf" srcId="{44AB09E4-3E4E-494E-B41C-031C350132AB}" destId="{2AC24AF2-C200-094A-A60A-9FA449CBC435}" srcOrd="10" destOrd="0" presId="urn:microsoft.com/office/officeart/2005/8/layout/vProcess5"/>
    <dgm:cxn modelId="{BF557F37-5EA5-7E40-834B-3947A3F9EE43}" type="presParOf" srcId="{44AB09E4-3E4E-494E-B41C-031C350132AB}" destId="{D7C6CCC8-707D-4941-BADB-2C31B21CA56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E6FC24-A6A2-1A40-854D-0CD48F92075D}" type="doc">
      <dgm:prSet loTypeId="urn:microsoft.com/office/officeart/2005/8/layout/vList2" loCatId="list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2816C301-31B0-304C-B2B6-26599EB6A16C}">
      <dgm:prSet/>
      <dgm:spPr/>
      <dgm:t>
        <a:bodyPr/>
        <a:lstStyle/>
        <a:p>
          <a:r>
            <a:rPr lang="en-US" b="1" i="0" dirty="0"/>
            <a:t>Unit Elasticity: – 0.44</a:t>
          </a:r>
          <a:endParaRPr lang="en-US" dirty="0"/>
        </a:p>
      </dgm:t>
    </dgm:pt>
    <dgm:pt modelId="{40554218-CC46-0E43-96CD-41F80E73BE86}" type="parTrans" cxnId="{A479218D-AF5B-9949-83A0-424CF271373C}">
      <dgm:prSet/>
      <dgm:spPr/>
      <dgm:t>
        <a:bodyPr/>
        <a:lstStyle/>
        <a:p>
          <a:endParaRPr lang="en-US"/>
        </a:p>
      </dgm:t>
    </dgm:pt>
    <dgm:pt modelId="{D5105B68-34EA-BF4A-8323-4CD29D4318DC}" type="sibTrans" cxnId="{A479218D-AF5B-9949-83A0-424CF271373C}">
      <dgm:prSet/>
      <dgm:spPr/>
      <dgm:t>
        <a:bodyPr/>
        <a:lstStyle/>
        <a:p>
          <a:endParaRPr lang="en-US"/>
        </a:p>
      </dgm:t>
    </dgm:pt>
    <dgm:pt modelId="{D9285217-499E-614E-8430-457C0CB47864}">
      <dgm:prSet/>
      <dgm:spPr/>
      <dgm:t>
        <a:bodyPr/>
        <a:lstStyle/>
        <a:p>
          <a:r>
            <a:rPr lang="en-US" b="0" i="0" dirty="0"/>
            <a:t>Unit demand is </a:t>
          </a:r>
          <a:r>
            <a:rPr lang="en-US" b="0" i="1" dirty="0"/>
            <a:t>moderately inelastic</a:t>
          </a:r>
          <a:endParaRPr lang="en-US" dirty="0"/>
        </a:p>
      </dgm:t>
    </dgm:pt>
    <dgm:pt modelId="{FDA9B357-D45E-2E4E-950C-121C24247404}" type="parTrans" cxnId="{E324EE47-D41B-6142-9E89-B75B212ABB50}">
      <dgm:prSet/>
      <dgm:spPr/>
      <dgm:t>
        <a:bodyPr/>
        <a:lstStyle/>
        <a:p>
          <a:endParaRPr lang="en-US"/>
        </a:p>
      </dgm:t>
    </dgm:pt>
    <dgm:pt modelId="{F600EC9F-6428-0C49-9140-82D7B603BE71}" type="sibTrans" cxnId="{E324EE47-D41B-6142-9E89-B75B212ABB50}">
      <dgm:prSet/>
      <dgm:spPr/>
      <dgm:t>
        <a:bodyPr/>
        <a:lstStyle/>
        <a:p>
          <a:endParaRPr lang="en-US"/>
        </a:p>
      </dgm:t>
    </dgm:pt>
    <dgm:pt modelId="{2A0DA6AF-17AF-2741-B32F-AC08A7029709}">
      <dgm:prSet/>
      <dgm:spPr/>
      <dgm:t>
        <a:bodyPr/>
        <a:lstStyle/>
        <a:p>
          <a:r>
            <a:rPr lang="en-US" b="0" i="0" dirty="0"/>
            <a:t>Small price increases will not significantly hurt sales</a:t>
          </a:r>
          <a:endParaRPr lang="en-US" dirty="0"/>
        </a:p>
      </dgm:t>
    </dgm:pt>
    <dgm:pt modelId="{FA2AF3E0-9446-4348-A3FF-D2F0A7B30EF2}" type="parTrans" cxnId="{296C4467-C213-CE44-9025-5EF16D65F1BA}">
      <dgm:prSet/>
      <dgm:spPr/>
      <dgm:t>
        <a:bodyPr/>
        <a:lstStyle/>
        <a:p>
          <a:endParaRPr lang="en-US"/>
        </a:p>
      </dgm:t>
    </dgm:pt>
    <dgm:pt modelId="{1163F4E7-F30C-B243-8A8D-377DACF7DBAD}" type="sibTrans" cxnId="{296C4467-C213-CE44-9025-5EF16D65F1BA}">
      <dgm:prSet/>
      <dgm:spPr/>
      <dgm:t>
        <a:bodyPr/>
        <a:lstStyle/>
        <a:p>
          <a:endParaRPr lang="en-US"/>
        </a:p>
      </dgm:t>
    </dgm:pt>
    <dgm:pt modelId="{F8DD0B49-EB82-1142-B59D-18D9A18DE073}">
      <dgm:prSet/>
      <dgm:spPr/>
      <dgm:t>
        <a:bodyPr/>
        <a:lstStyle/>
        <a:p>
          <a:r>
            <a:rPr lang="en-US" b="1" i="0" dirty="0"/>
            <a:t>Volume Elasticity: – 1.09</a:t>
          </a:r>
          <a:endParaRPr lang="en-US" dirty="0"/>
        </a:p>
      </dgm:t>
    </dgm:pt>
    <dgm:pt modelId="{1E0AB5EF-582D-0840-AB9A-703C9A709DBF}" type="parTrans" cxnId="{7D155095-E09C-B34F-94E6-F072F93EAB54}">
      <dgm:prSet/>
      <dgm:spPr/>
      <dgm:t>
        <a:bodyPr/>
        <a:lstStyle/>
        <a:p>
          <a:endParaRPr lang="en-US"/>
        </a:p>
      </dgm:t>
    </dgm:pt>
    <dgm:pt modelId="{4D194EB6-8F67-DF47-A09F-1F062FDBF10E}" type="sibTrans" cxnId="{7D155095-E09C-B34F-94E6-F072F93EAB54}">
      <dgm:prSet/>
      <dgm:spPr/>
      <dgm:t>
        <a:bodyPr/>
        <a:lstStyle/>
        <a:p>
          <a:endParaRPr lang="en-US"/>
        </a:p>
      </dgm:t>
    </dgm:pt>
    <dgm:pt modelId="{2EC519C8-BB77-1D4C-87A0-86D339F2F917}">
      <dgm:prSet/>
      <dgm:spPr/>
      <dgm:t>
        <a:bodyPr/>
        <a:lstStyle/>
        <a:p>
          <a:r>
            <a:rPr lang="en-US" b="0" i="0" dirty="0"/>
            <a:t>Volume SKUs more price-sensitive</a:t>
          </a:r>
          <a:endParaRPr lang="en-US" dirty="0"/>
        </a:p>
      </dgm:t>
    </dgm:pt>
    <dgm:pt modelId="{061D1B3D-5CB7-6041-AF98-ED94EBD39626}" type="parTrans" cxnId="{5755CB77-84B5-7045-848B-F85583214EF7}">
      <dgm:prSet/>
      <dgm:spPr/>
      <dgm:t>
        <a:bodyPr/>
        <a:lstStyle/>
        <a:p>
          <a:endParaRPr lang="en-US"/>
        </a:p>
      </dgm:t>
    </dgm:pt>
    <dgm:pt modelId="{08B4FEF4-46A6-024C-890A-3DD2101943DB}" type="sibTrans" cxnId="{5755CB77-84B5-7045-848B-F85583214EF7}">
      <dgm:prSet/>
      <dgm:spPr/>
      <dgm:t>
        <a:bodyPr/>
        <a:lstStyle/>
        <a:p>
          <a:endParaRPr lang="en-US"/>
        </a:p>
      </dgm:t>
    </dgm:pt>
    <dgm:pt modelId="{5898A813-9CEB-9F45-9DFE-CB440834356C}">
      <dgm:prSet/>
      <dgm:spPr/>
      <dgm:t>
        <a:bodyPr/>
        <a:lstStyle/>
        <a:p>
          <a:r>
            <a:rPr lang="en-US" b="0" i="0"/>
            <a:t>Important for managing revenue scale</a:t>
          </a:r>
          <a:endParaRPr lang="en-US"/>
        </a:p>
      </dgm:t>
    </dgm:pt>
    <dgm:pt modelId="{D8BB579B-AD90-5548-BC73-1AB28F052995}" type="parTrans" cxnId="{71CE40F8-B298-3C4F-86AC-A533AB983D3D}">
      <dgm:prSet/>
      <dgm:spPr/>
      <dgm:t>
        <a:bodyPr/>
        <a:lstStyle/>
        <a:p>
          <a:endParaRPr lang="en-US"/>
        </a:p>
      </dgm:t>
    </dgm:pt>
    <dgm:pt modelId="{DB11CA38-8EC3-884E-A07E-38159A692088}" type="sibTrans" cxnId="{71CE40F8-B298-3C4F-86AC-A533AB983D3D}">
      <dgm:prSet/>
      <dgm:spPr/>
      <dgm:t>
        <a:bodyPr/>
        <a:lstStyle/>
        <a:p>
          <a:endParaRPr lang="en-US"/>
        </a:p>
      </dgm:t>
    </dgm:pt>
    <dgm:pt modelId="{3452263B-43FF-0F4A-870C-89396476404D}">
      <dgm:prSet/>
      <dgm:spPr/>
      <dgm:t>
        <a:bodyPr/>
        <a:lstStyle/>
        <a:p>
          <a:r>
            <a:rPr lang="en-US" b="1" i="0" dirty="0"/>
            <a:t>ACV Elasticity: + 0.97</a:t>
          </a:r>
          <a:endParaRPr lang="en-US" dirty="0"/>
        </a:p>
      </dgm:t>
    </dgm:pt>
    <dgm:pt modelId="{BE2C895D-2C88-6E4A-BBF0-373AD6420B41}" type="parTrans" cxnId="{FC6A5C17-E86A-EC4A-A96B-DC90B7D6E18E}">
      <dgm:prSet/>
      <dgm:spPr/>
      <dgm:t>
        <a:bodyPr/>
        <a:lstStyle/>
        <a:p>
          <a:endParaRPr lang="en-US"/>
        </a:p>
      </dgm:t>
    </dgm:pt>
    <dgm:pt modelId="{810DE562-F903-614E-A7B1-B30CF77B166C}" type="sibTrans" cxnId="{FC6A5C17-E86A-EC4A-A96B-DC90B7D6E18E}">
      <dgm:prSet/>
      <dgm:spPr/>
      <dgm:t>
        <a:bodyPr/>
        <a:lstStyle/>
        <a:p>
          <a:endParaRPr lang="en-US"/>
        </a:p>
      </dgm:t>
    </dgm:pt>
    <dgm:pt modelId="{52621914-CF75-1041-B479-0DA007668880}">
      <dgm:prSet/>
      <dgm:spPr/>
      <dgm:t>
        <a:bodyPr/>
        <a:lstStyle/>
        <a:p>
          <a:r>
            <a:rPr lang="en-US" b="0" i="0" dirty="0"/>
            <a:t>Distribution nearly equals sales lift</a:t>
          </a:r>
          <a:endParaRPr lang="en-US" dirty="0"/>
        </a:p>
      </dgm:t>
    </dgm:pt>
    <dgm:pt modelId="{76181267-C397-CF41-800F-30D713ABA188}" type="parTrans" cxnId="{D62A7456-4F17-3E4B-A9AF-ED869C00AD98}">
      <dgm:prSet/>
      <dgm:spPr/>
      <dgm:t>
        <a:bodyPr/>
        <a:lstStyle/>
        <a:p>
          <a:endParaRPr lang="en-US"/>
        </a:p>
      </dgm:t>
    </dgm:pt>
    <dgm:pt modelId="{0F456A2E-E8EC-E14B-B30A-83FE67987B63}" type="sibTrans" cxnId="{D62A7456-4F17-3E4B-A9AF-ED869C00AD98}">
      <dgm:prSet/>
      <dgm:spPr/>
      <dgm:t>
        <a:bodyPr/>
        <a:lstStyle/>
        <a:p>
          <a:endParaRPr lang="en-US"/>
        </a:p>
      </dgm:t>
    </dgm:pt>
    <dgm:pt modelId="{7E40D4C6-3FBF-5E4C-9CC7-05C10D3D841A}">
      <dgm:prSet/>
      <dgm:spPr/>
      <dgm:t>
        <a:bodyPr/>
        <a:lstStyle/>
        <a:p>
          <a:r>
            <a:rPr lang="en-US" b="0" i="0" dirty="0"/>
            <a:t>10% ACV increase → ~9.7% sales lift</a:t>
          </a:r>
          <a:endParaRPr lang="en-US" dirty="0"/>
        </a:p>
      </dgm:t>
    </dgm:pt>
    <dgm:pt modelId="{C3A5593D-D8D2-DF4A-93F7-17D8E76E778C}" type="parTrans" cxnId="{B32F1062-FCD8-7C4E-953F-E7F1E33A4FAA}">
      <dgm:prSet/>
      <dgm:spPr/>
      <dgm:t>
        <a:bodyPr/>
        <a:lstStyle/>
        <a:p>
          <a:endParaRPr lang="en-US"/>
        </a:p>
      </dgm:t>
    </dgm:pt>
    <dgm:pt modelId="{1B10A03E-FB02-2E4E-9A8B-D3F07AEE8EFA}" type="sibTrans" cxnId="{B32F1062-FCD8-7C4E-953F-E7F1E33A4FAA}">
      <dgm:prSet/>
      <dgm:spPr/>
      <dgm:t>
        <a:bodyPr/>
        <a:lstStyle/>
        <a:p>
          <a:endParaRPr lang="en-US"/>
        </a:p>
      </dgm:t>
    </dgm:pt>
    <dgm:pt modelId="{A9ABC6D9-E20F-7E45-BA12-D90473B18870}">
      <dgm:prSet/>
      <dgm:spPr/>
      <dgm:t>
        <a:bodyPr/>
        <a:lstStyle/>
        <a:p>
          <a:endParaRPr lang="en-US"/>
        </a:p>
      </dgm:t>
    </dgm:pt>
    <dgm:pt modelId="{11D97DB3-9382-B847-BBB3-B8942552F6E1}" type="parTrans" cxnId="{65DF11EF-F56B-A240-BD61-7B6FAF83C6BF}">
      <dgm:prSet/>
      <dgm:spPr/>
      <dgm:t>
        <a:bodyPr/>
        <a:lstStyle/>
        <a:p>
          <a:endParaRPr lang="en-US"/>
        </a:p>
      </dgm:t>
    </dgm:pt>
    <dgm:pt modelId="{8D4D1732-0B90-A540-8E2A-865DFD3BCC3B}" type="sibTrans" cxnId="{65DF11EF-F56B-A240-BD61-7B6FAF83C6BF}">
      <dgm:prSet/>
      <dgm:spPr/>
      <dgm:t>
        <a:bodyPr/>
        <a:lstStyle/>
        <a:p>
          <a:endParaRPr lang="en-US"/>
        </a:p>
      </dgm:t>
    </dgm:pt>
    <dgm:pt modelId="{B419DEA6-786A-BA4C-A286-3D18C9FF3D7B}">
      <dgm:prSet/>
      <dgm:spPr/>
      <dgm:t>
        <a:bodyPr/>
        <a:lstStyle/>
        <a:p>
          <a:endParaRPr lang="en-US"/>
        </a:p>
      </dgm:t>
    </dgm:pt>
    <dgm:pt modelId="{AE08A779-CA60-DC4F-816C-2BB7154F4860}" type="parTrans" cxnId="{ADF5F5D1-2E8A-5241-96FA-533D94108E4E}">
      <dgm:prSet/>
      <dgm:spPr/>
      <dgm:t>
        <a:bodyPr/>
        <a:lstStyle/>
        <a:p>
          <a:endParaRPr lang="en-US"/>
        </a:p>
      </dgm:t>
    </dgm:pt>
    <dgm:pt modelId="{1EC1F8D5-5323-5A49-BF40-A832CEF75074}" type="sibTrans" cxnId="{ADF5F5D1-2E8A-5241-96FA-533D94108E4E}">
      <dgm:prSet/>
      <dgm:spPr/>
      <dgm:t>
        <a:bodyPr/>
        <a:lstStyle/>
        <a:p>
          <a:endParaRPr lang="en-US"/>
        </a:p>
      </dgm:t>
    </dgm:pt>
    <dgm:pt modelId="{E1F099D1-4951-264E-8107-CF3728965EA2}">
      <dgm:prSet/>
      <dgm:spPr/>
      <dgm:t>
        <a:bodyPr/>
        <a:lstStyle/>
        <a:p>
          <a:endParaRPr lang="en-US"/>
        </a:p>
      </dgm:t>
    </dgm:pt>
    <dgm:pt modelId="{11C00898-819E-0341-BC19-2CC4DF8BE42B}" type="parTrans" cxnId="{60B9A523-CCB2-7643-A767-4882F8F078E5}">
      <dgm:prSet/>
      <dgm:spPr/>
      <dgm:t>
        <a:bodyPr/>
        <a:lstStyle/>
        <a:p>
          <a:endParaRPr lang="en-US"/>
        </a:p>
      </dgm:t>
    </dgm:pt>
    <dgm:pt modelId="{AAC2C086-6CFD-0945-960C-EADFFA9333A7}" type="sibTrans" cxnId="{60B9A523-CCB2-7643-A767-4882F8F078E5}">
      <dgm:prSet/>
      <dgm:spPr/>
      <dgm:t>
        <a:bodyPr/>
        <a:lstStyle/>
        <a:p>
          <a:endParaRPr lang="en-US"/>
        </a:p>
      </dgm:t>
    </dgm:pt>
    <dgm:pt modelId="{BE227B0A-D872-044A-8262-13BEFB2DF126}" type="pres">
      <dgm:prSet presAssocID="{62E6FC24-A6A2-1A40-854D-0CD48F92075D}" presName="linear" presStyleCnt="0">
        <dgm:presLayoutVars>
          <dgm:animLvl val="lvl"/>
          <dgm:resizeHandles val="exact"/>
        </dgm:presLayoutVars>
      </dgm:prSet>
      <dgm:spPr/>
    </dgm:pt>
    <dgm:pt modelId="{4F0D8C8D-A71C-DF4A-A8F3-61918EE5EAF3}" type="pres">
      <dgm:prSet presAssocID="{2816C301-31B0-304C-B2B6-26599EB6A16C}" presName="parentText" presStyleLbl="node1" presStyleIdx="0" presStyleCnt="3" custScaleY="69607">
        <dgm:presLayoutVars>
          <dgm:chMax val="0"/>
          <dgm:bulletEnabled val="1"/>
        </dgm:presLayoutVars>
      </dgm:prSet>
      <dgm:spPr/>
    </dgm:pt>
    <dgm:pt modelId="{055EB064-64DA-1849-8077-E4DDA9259718}" type="pres">
      <dgm:prSet presAssocID="{2816C301-31B0-304C-B2B6-26599EB6A16C}" presName="childText" presStyleLbl="revTx" presStyleIdx="0" presStyleCnt="3">
        <dgm:presLayoutVars>
          <dgm:bulletEnabled val="1"/>
        </dgm:presLayoutVars>
      </dgm:prSet>
      <dgm:spPr/>
    </dgm:pt>
    <dgm:pt modelId="{D99264F0-CB3B-9F49-A696-84E0BA0CD24D}" type="pres">
      <dgm:prSet presAssocID="{F8DD0B49-EB82-1142-B59D-18D9A18DE073}" presName="parentText" presStyleLbl="node1" presStyleIdx="1" presStyleCnt="3" custScaleY="69145">
        <dgm:presLayoutVars>
          <dgm:chMax val="0"/>
          <dgm:bulletEnabled val="1"/>
        </dgm:presLayoutVars>
      </dgm:prSet>
      <dgm:spPr/>
    </dgm:pt>
    <dgm:pt modelId="{0A0A8F3C-D1EC-0C44-8649-927BB4AC8C36}" type="pres">
      <dgm:prSet presAssocID="{F8DD0B49-EB82-1142-B59D-18D9A18DE073}" presName="childText" presStyleLbl="revTx" presStyleIdx="1" presStyleCnt="3">
        <dgm:presLayoutVars>
          <dgm:bulletEnabled val="1"/>
        </dgm:presLayoutVars>
      </dgm:prSet>
      <dgm:spPr/>
    </dgm:pt>
    <dgm:pt modelId="{0E46D833-1F5E-4145-9E84-9F9756C32354}" type="pres">
      <dgm:prSet presAssocID="{3452263B-43FF-0F4A-870C-89396476404D}" presName="parentText" presStyleLbl="node1" presStyleIdx="2" presStyleCnt="3" custScaleY="65406">
        <dgm:presLayoutVars>
          <dgm:chMax val="0"/>
          <dgm:bulletEnabled val="1"/>
        </dgm:presLayoutVars>
      </dgm:prSet>
      <dgm:spPr/>
    </dgm:pt>
    <dgm:pt modelId="{6A625AAD-B0B9-AA45-8CB4-0CC85FCC4CDF}" type="pres">
      <dgm:prSet presAssocID="{3452263B-43FF-0F4A-870C-89396476404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3674E02-9871-4341-AB7B-8D224D5BBAEE}" type="presOf" srcId="{E1F099D1-4951-264E-8107-CF3728965EA2}" destId="{055EB064-64DA-1849-8077-E4DDA9259718}" srcOrd="0" destOrd="0" presId="urn:microsoft.com/office/officeart/2005/8/layout/vList2"/>
    <dgm:cxn modelId="{A7F8EE0C-3358-4F4C-BBE3-4C11352AC489}" type="presOf" srcId="{D9285217-499E-614E-8430-457C0CB47864}" destId="{055EB064-64DA-1849-8077-E4DDA9259718}" srcOrd="0" destOrd="1" presId="urn:microsoft.com/office/officeart/2005/8/layout/vList2"/>
    <dgm:cxn modelId="{BCFE0613-500A-7947-91EC-128A7DC159A8}" type="presOf" srcId="{A9ABC6D9-E20F-7E45-BA12-D90473B18870}" destId="{6A625AAD-B0B9-AA45-8CB4-0CC85FCC4CDF}" srcOrd="0" destOrd="0" presId="urn:microsoft.com/office/officeart/2005/8/layout/vList2"/>
    <dgm:cxn modelId="{FC6A5C17-E86A-EC4A-A96B-DC90B7D6E18E}" srcId="{62E6FC24-A6A2-1A40-854D-0CD48F92075D}" destId="{3452263B-43FF-0F4A-870C-89396476404D}" srcOrd="2" destOrd="0" parTransId="{BE2C895D-2C88-6E4A-BBF0-373AD6420B41}" sibTransId="{810DE562-F903-614E-A7B1-B30CF77B166C}"/>
    <dgm:cxn modelId="{60B9A523-CCB2-7643-A767-4882F8F078E5}" srcId="{2816C301-31B0-304C-B2B6-26599EB6A16C}" destId="{E1F099D1-4951-264E-8107-CF3728965EA2}" srcOrd="0" destOrd="0" parTransId="{11C00898-819E-0341-BC19-2CC4DF8BE42B}" sibTransId="{AAC2C086-6CFD-0945-960C-EADFFA9333A7}"/>
    <dgm:cxn modelId="{8D07962D-0672-AD47-BB44-1E6B33EFE4EF}" type="presOf" srcId="{52621914-CF75-1041-B479-0DA007668880}" destId="{6A625AAD-B0B9-AA45-8CB4-0CC85FCC4CDF}" srcOrd="0" destOrd="1" presId="urn:microsoft.com/office/officeart/2005/8/layout/vList2"/>
    <dgm:cxn modelId="{E324EE47-D41B-6142-9E89-B75B212ABB50}" srcId="{2816C301-31B0-304C-B2B6-26599EB6A16C}" destId="{D9285217-499E-614E-8430-457C0CB47864}" srcOrd="1" destOrd="0" parTransId="{FDA9B357-D45E-2E4E-950C-121C24247404}" sibTransId="{F600EC9F-6428-0C49-9140-82D7B603BE71}"/>
    <dgm:cxn modelId="{EF2CB04F-37C7-9C42-8213-0935539B4D51}" type="presOf" srcId="{2EC519C8-BB77-1D4C-87A0-86D339F2F917}" destId="{0A0A8F3C-D1EC-0C44-8649-927BB4AC8C36}" srcOrd="0" destOrd="1" presId="urn:microsoft.com/office/officeart/2005/8/layout/vList2"/>
    <dgm:cxn modelId="{D62A7456-4F17-3E4B-A9AF-ED869C00AD98}" srcId="{3452263B-43FF-0F4A-870C-89396476404D}" destId="{52621914-CF75-1041-B479-0DA007668880}" srcOrd="1" destOrd="0" parTransId="{76181267-C397-CF41-800F-30D713ABA188}" sibTransId="{0F456A2E-E8EC-E14B-B30A-83FE67987B63}"/>
    <dgm:cxn modelId="{B32F1062-FCD8-7C4E-953F-E7F1E33A4FAA}" srcId="{3452263B-43FF-0F4A-870C-89396476404D}" destId="{7E40D4C6-3FBF-5E4C-9CC7-05C10D3D841A}" srcOrd="2" destOrd="0" parTransId="{C3A5593D-D8D2-DF4A-93F7-17D8E76E778C}" sibTransId="{1B10A03E-FB02-2E4E-9A8B-D3F07AEE8EFA}"/>
    <dgm:cxn modelId="{296C4467-C213-CE44-9025-5EF16D65F1BA}" srcId="{2816C301-31B0-304C-B2B6-26599EB6A16C}" destId="{2A0DA6AF-17AF-2741-B32F-AC08A7029709}" srcOrd="2" destOrd="0" parTransId="{FA2AF3E0-9446-4348-A3FF-D2F0A7B30EF2}" sibTransId="{1163F4E7-F30C-B243-8A8D-377DACF7DBAD}"/>
    <dgm:cxn modelId="{5755CB77-84B5-7045-848B-F85583214EF7}" srcId="{F8DD0B49-EB82-1142-B59D-18D9A18DE073}" destId="{2EC519C8-BB77-1D4C-87A0-86D339F2F917}" srcOrd="1" destOrd="0" parTransId="{061D1B3D-5CB7-6041-AF98-ED94EBD39626}" sibTransId="{08B4FEF4-46A6-024C-890A-3DD2101943DB}"/>
    <dgm:cxn modelId="{7A37A789-198B-7548-B752-82EFC029FA93}" type="presOf" srcId="{3452263B-43FF-0F4A-870C-89396476404D}" destId="{0E46D833-1F5E-4145-9E84-9F9756C32354}" srcOrd="0" destOrd="0" presId="urn:microsoft.com/office/officeart/2005/8/layout/vList2"/>
    <dgm:cxn modelId="{A479218D-AF5B-9949-83A0-424CF271373C}" srcId="{62E6FC24-A6A2-1A40-854D-0CD48F92075D}" destId="{2816C301-31B0-304C-B2B6-26599EB6A16C}" srcOrd="0" destOrd="0" parTransId="{40554218-CC46-0E43-96CD-41F80E73BE86}" sibTransId="{D5105B68-34EA-BF4A-8323-4CD29D4318DC}"/>
    <dgm:cxn modelId="{9226B48D-1AFF-AF4B-A560-BD2CCD9847DF}" type="presOf" srcId="{62E6FC24-A6A2-1A40-854D-0CD48F92075D}" destId="{BE227B0A-D872-044A-8262-13BEFB2DF126}" srcOrd="0" destOrd="0" presId="urn:microsoft.com/office/officeart/2005/8/layout/vList2"/>
    <dgm:cxn modelId="{7D155095-E09C-B34F-94E6-F072F93EAB54}" srcId="{62E6FC24-A6A2-1A40-854D-0CD48F92075D}" destId="{F8DD0B49-EB82-1142-B59D-18D9A18DE073}" srcOrd="1" destOrd="0" parTransId="{1E0AB5EF-582D-0840-AB9A-703C9A709DBF}" sibTransId="{4D194EB6-8F67-DF47-A09F-1F062FDBF10E}"/>
    <dgm:cxn modelId="{18B081A3-6B49-E746-8890-9BD1009B84DE}" type="presOf" srcId="{2816C301-31B0-304C-B2B6-26599EB6A16C}" destId="{4F0D8C8D-A71C-DF4A-A8F3-61918EE5EAF3}" srcOrd="0" destOrd="0" presId="urn:microsoft.com/office/officeart/2005/8/layout/vList2"/>
    <dgm:cxn modelId="{6289B2B0-59A3-A14B-9B7A-EC8FC9C79C3C}" type="presOf" srcId="{5898A813-9CEB-9F45-9DFE-CB440834356C}" destId="{0A0A8F3C-D1EC-0C44-8649-927BB4AC8C36}" srcOrd="0" destOrd="2" presId="urn:microsoft.com/office/officeart/2005/8/layout/vList2"/>
    <dgm:cxn modelId="{253FB8B6-2C83-0E4D-947E-02D5FE1C86B1}" type="presOf" srcId="{B419DEA6-786A-BA4C-A286-3D18C9FF3D7B}" destId="{0A0A8F3C-D1EC-0C44-8649-927BB4AC8C36}" srcOrd="0" destOrd="0" presId="urn:microsoft.com/office/officeart/2005/8/layout/vList2"/>
    <dgm:cxn modelId="{ADF5F5D1-2E8A-5241-96FA-533D94108E4E}" srcId="{F8DD0B49-EB82-1142-B59D-18D9A18DE073}" destId="{B419DEA6-786A-BA4C-A286-3D18C9FF3D7B}" srcOrd="0" destOrd="0" parTransId="{AE08A779-CA60-DC4F-816C-2BB7154F4860}" sibTransId="{1EC1F8D5-5323-5A49-BF40-A832CEF75074}"/>
    <dgm:cxn modelId="{979C46D5-BD6C-904F-A5B7-8A1E6C129000}" type="presOf" srcId="{7E40D4C6-3FBF-5E4C-9CC7-05C10D3D841A}" destId="{6A625AAD-B0B9-AA45-8CB4-0CC85FCC4CDF}" srcOrd="0" destOrd="2" presId="urn:microsoft.com/office/officeart/2005/8/layout/vList2"/>
    <dgm:cxn modelId="{1F2891DF-5554-3A4E-BC92-159A25E467C2}" type="presOf" srcId="{2A0DA6AF-17AF-2741-B32F-AC08A7029709}" destId="{055EB064-64DA-1849-8077-E4DDA9259718}" srcOrd="0" destOrd="2" presId="urn:microsoft.com/office/officeart/2005/8/layout/vList2"/>
    <dgm:cxn modelId="{65DF11EF-F56B-A240-BD61-7B6FAF83C6BF}" srcId="{3452263B-43FF-0F4A-870C-89396476404D}" destId="{A9ABC6D9-E20F-7E45-BA12-D90473B18870}" srcOrd="0" destOrd="0" parTransId="{11D97DB3-9382-B847-BBB3-B8942552F6E1}" sibTransId="{8D4D1732-0B90-A540-8E2A-865DFD3BCC3B}"/>
    <dgm:cxn modelId="{C91E1BEF-2631-6D4C-8A3E-77EFBAF9C12D}" type="presOf" srcId="{F8DD0B49-EB82-1142-B59D-18D9A18DE073}" destId="{D99264F0-CB3B-9F49-A696-84E0BA0CD24D}" srcOrd="0" destOrd="0" presId="urn:microsoft.com/office/officeart/2005/8/layout/vList2"/>
    <dgm:cxn modelId="{71CE40F8-B298-3C4F-86AC-A533AB983D3D}" srcId="{F8DD0B49-EB82-1142-B59D-18D9A18DE073}" destId="{5898A813-9CEB-9F45-9DFE-CB440834356C}" srcOrd="2" destOrd="0" parTransId="{D8BB579B-AD90-5548-BC73-1AB28F052995}" sibTransId="{DB11CA38-8EC3-884E-A07E-38159A692088}"/>
    <dgm:cxn modelId="{F75C536F-6089-6A4C-9598-0433E6618254}" type="presParOf" srcId="{BE227B0A-D872-044A-8262-13BEFB2DF126}" destId="{4F0D8C8D-A71C-DF4A-A8F3-61918EE5EAF3}" srcOrd="0" destOrd="0" presId="urn:microsoft.com/office/officeart/2005/8/layout/vList2"/>
    <dgm:cxn modelId="{4FB9C190-0782-A64D-BD2F-F1523D9DE0F7}" type="presParOf" srcId="{BE227B0A-D872-044A-8262-13BEFB2DF126}" destId="{055EB064-64DA-1849-8077-E4DDA9259718}" srcOrd="1" destOrd="0" presId="urn:microsoft.com/office/officeart/2005/8/layout/vList2"/>
    <dgm:cxn modelId="{450993C2-65AA-294A-8599-E9DBB3DEA4E3}" type="presParOf" srcId="{BE227B0A-D872-044A-8262-13BEFB2DF126}" destId="{D99264F0-CB3B-9F49-A696-84E0BA0CD24D}" srcOrd="2" destOrd="0" presId="urn:microsoft.com/office/officeart/2005/8/layout/vList2"/>
    <dgm:cxn modelId="{3DCCF484-8176-C540-874E-CB195E1AB03A}" type="presParOf" srcId="{BE227B0A-D872-044A-8262-13BEFB2DF126}" destId="{0A0A8F3C-D1EC-0C44-8649-927BB4AC8C36}" srcOrd="3" destOrd="0" presId="urn:microsoft.com/office/officeart/2005/8/layout/vList2"/>
    <dgm:cxn modelId="{83F44ED3-7C81-A940-AA32-6349531A2E6C}" type="presParOf" srcId="{BE227B0A-D872-044A-8262-13BEFB2DF126}" destId="{0E46D833-1F5E-4145-9E84-9F9756C32354}" srcOrd="4" destOrd="0" presId="urn:microsoft.com/office/officeart/2005/8/layout/vList2"/>
    <dgm:cxn modelId="{84F188C0-04DC-F14D-BD5D-EEA7D625F1C4}" type="presParOf" srcId="{BE227B0A-D872-044A-8262-13BEFB2DF126}" destId="{6A625AAD-B0B9-AA45-8CB4-0CC85FCC4CD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0D519C-3465-5546-AFE2-D64A24DD7E4C}">
      <dsp:nvSpPr>
        <dsp:cNvPr id="0" name=""/>
        <dsp:cNvSpPr/>
      </dsp:nvSpPr>
      <dsp:spPr>
        <a:xfrm>
          <a:off x="0" y="0"/>
          <a:ext cx="7523481" cy="89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Impossible’s ACV reached ~40% (Conagra ~10–14%)</a:t>
          </a:r>
        </a:p>
      </dsp:txBody>
      <dsp:txXfrm>
        <a:off x="26138" y="26138"/>
        <a:ext cx="6485086" cy="840139"/>
      </dsp:txXfrm>
    </dsp:sp>
    <dsp:sp modelId="{5AF37C34-99AA-744E-B86A-20C62F38DFFE}">
      <dsp:nvSpPr>
        <dsp:cNvPr id="0" name=""/>
        <dsp:cNvSpPr/>
      </dsp:nvSpPr>
      <dsp:spPr>
        <a:xfrm>
          <a:off x="630091" y="1054672"/>
          <a:ext cx="7523481" cy="89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13333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13333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Competitors operate with fewer SKUs and tighter brand identity</a:t>
          </a:r>
        </a:p>
      </dsp:txBody>
      <dsp:txXfrm>
        <a:off x="656229" y="1080810"/>
        <a:ext cx="6261043" cy="840139"/>
      </dsp:txXfrm>
    </dsp:sp>
    <dsp:sp modelId="{A5029B72-6EAB-EE43-9A47-F429A4B5833E}">
      <dsp:nvSpPr>
        <dsp:cNvPr id="0" name=""/>
        <dsp:cNvSpPr/>
      </dsp:nvSpPr>
      <dsp:spPr>
        <a:xfrm>
          <a:off x="1250778" y="2109345"/>
          <a:ext cx="7523481" cy="89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6667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6667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Conagra’s broad assortment creates mixed performance</a:t>
          </a:r>
        </a:p>
      </dsp:txBody>
      <dsp:txXfrm>
        <a:off x="1276916" y="2135483"/>
        <a:ext cx="6270448" cy="840139"/>
      </dsp:txXfrm>
    </dsp:sp>
    <dsp:sp modelId="{8C7C0B04-026E-E44F-AFC1-7F8380F5A3C0}">
      <dsp:nvSpPr>
        <dsp:cNvPr id="0" name=""/>
        <dsp:cNvSpPr/>
      </dsp:nvSpPr>
      <dsp:spPr>
        <a:xfrm>
          <a:off x="1880870" y="3164018"/>
          <a:ext cx="7523481" cy="89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Higher SKU count increases internal cannibalization</a:t>
          </a:r>
        </a:p>
      </dsp:txBody>
      <dsp:txXfrm>
        <a:off x="1907008" y="3190156"/>
        <a:ext cx="6261043" cy="840139"/>
      </dsp:txXfrm>
    </dsp:sp>
    <dsp:sp modelId="{031DE2D3-01F7-514E-A266-AFF239F64716}">
      <dsp:nvSpPr>
        <dsp:cNvPr id="0" name=""/>
        <dsp:cNvSpPr/>
      </dsp:nvSpPr>
      <dsp:spPr>
        <a:xfrm>
          <a:off x="6943411" y="683509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73927" y="683509"/>
        <a:ext cx="319038" cy="436503"/>
      </dsp:txXfrm>
    </dsp:sp>
    <dsp:sp modelId="{0BF29779-5A71-A94F-A6BA-A477EC1FC505}">
      <dsp:nvSpPr>
        <dsp:cNvPr id="0" name=""/>
        <dsp:cNvSpPr/>
      </dsp:nvSpPr>
      <dsp:spPr>
        <a:xfrm>
          <a:off x="7573503" y="1738181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-20000"/>
          </a:schemeClr>
        </a:solidFill>
        <a:ln w="9525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704019" y="1738181"/>
        <a:ext cx="319038" cy="436503"/>
      </dsp:txXfrm>
    </dsp:sp>
    <dsp:sp modelId="{FA0EF690-3344-F340-A3B7-CD6179C16034}">
      <dsp:nvSpPr>
        <dsp:cNvPr id="0" name=""/>
        <dsp:cNvSpPr/>
      </dsp:nvSpPr>
      <dsp:spPr>
        <a:xfrm>
          <a:off x="8194190" y="2792854"/>
          <a:ext cx="580070" cy="580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-40000"/>
          </a:schemeClr>
        </a:solidFill>
        <a:ln w="9525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324706" y="2792854"/>
        <a:ext cx="319038" cy="436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D8C8D-A71C-DF4A-A8F3-61918EE5EAF3}">
      <dsp:nvSpPr>
        <dsp:cNvPr id="0" name=""/>
        <dsp:cNvSpPr/>
      </dsp:nvSpPr>
      <dsp:spPr>
        <a:xfrm>
          <a:off x="0" y="90228"/>
          <a:ext cx="8946541" cy="450771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Unit Elasticity: – 0.44</a:t>
          </a:r>
          <a:endParaRPr lang="en-US" sz="1700" kern="1200" dirty="0"/>
        </a:p>
      </dsp:txBody>
      <dsp:txXfrm>
        <a:off x="22005" y="112233"/>
        <a:ext cx="8902531" cy="406761"/>
      </dsp:txXfrm>
    </dsp:sp>
    <dsp:sp modelId="{055EB064-64DA-1849-8077-E4DDA9259718}">
      <dsp:nvSpPr>
        <dsp:cNvPr id="0" name=""/>
        <dsp:cNvSpPr/>
      </dsp:nvSpPr>
      <dsp:spPr>
        <a:xfrm>
          <a:off x="0" y="540999"/>
          <a:ext cx="8946541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Unit demand is </a:t>
          </a:r>
          <a:r>
            <a:rPr lang="en-US" sz="1300" b="0" i="1" kern="1200" dirty="0"/>
            <a:t>moderately inelastic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Small price increases will not significantly hurt sales</a:t>
          </a:r>
          <a:endParaRPr lang="en-US" sz="1300" kern="1200" dirty="0"/>
        </a:p>
      </dsp:txBody>
      <dsp:txXfrm>
        <a:off x="0" y="540999"/>
        <a:ext cx="8946541" cy="1089854"/>
      </dsp:txXfrm>
    </dsp:sp>
    <dsp:sp modelId="{D99264F0-CB3B-9F49-A696-84E0BA0CD24D}">
      <dsp:nvSpPr>
        <dsp:cNvPr id="0" name=""/>
        <dsp:cNvSpPr/>
      </dsp:nvSpPr>
      <dsp:spPr>
        <a:xfrm>
          <a:off x="0" y="1630854"/>
          <a:ext cx="8946541" cy="447779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Volume Elasticity: – 1.09</a:t>
          </a:r>
          <a:endParaRPr lang="en-US" sz="1700" kern="1200" dirty="0"/>
        </a:p>
      </dsp:txBody>
      <dsp:txXfrm>
        <a:off x="21859" y="1652713"/>
        <a:ext cx="8902823" cy="404061"/>
      </dsp:txXfrm>
    </dsp:sp>
    <dsp:sp modelId="{0A0A8F3C-D1EC-0C44-8649-927BB4AC8C36}">
      <dsp:nvSpPr>
        <dsp:cNvPr id="0" name=""/>
        <dsp:cNvSpPr/>
      </dsp:nvSpPr>
      <dsp:spPr>
        <a:xfrm>
          <a:off x="0" y="2078634"/>
          <a:ext cx="8946541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Volume SKUs more price-sensitive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Important for managing revenue scale</a:t>
          </a:r>
          <a:endParaRPr lang="en-US" sz="1300" kern="1200"/>
        </a:p>
      </dsp:txBody>
      <dsp:txXfrm>
        <a:off x="0" y="2078634"/>
        <a:ext cx="8946541" cy="1089854"/>
      </dsp:txXfrm>
    </dsp:sp>
    <dsp:sp modelId="{0E46D833-1F5E-4145-9E84-9F9756C32354}">
      <dsp:nvSpPr>
        <dsp:cNvPr id="0" name=""/>
        <dsp:cNvSpPr/>
      </dsp:nvSpPr>
      <dsp:spPr>
        <a:xfrm>
          <a:off x="0" y="3168489"/>
          <a:ext cx="8946541" cy="423565"/>
        </a:xfrm>
        <a:prstGeom prst="round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ACV Elasticity: + 0.97</a:t>
          </a:r>
          <a:endParaRPr lang="en-US" sz="1700" kern="1200" dirty="0"/>
        </a:p>
      </dsp:txBody>
      <dsp:txXfrm>
        <a:off x="20677" y="3189166"/>
        <a:ext cx="8905187" cy="382211"/>
      </dsp:txXfrm>
    </dsp:sp>
    <dsp:sp modelId="{6A625AAD-B0B9-AA45-8CB4-0CC85FCC4CDF}">
      <dsp:nvSpPr>
        <dsp:cNvPr id="0" name=""/>
        <dsp:cNvSpPr/>
      </dsp:nvSpPr>
      <dsp:spPr>
        <a:xfrm>
          <a:off x="0" y="3592055"/>
          <a:ext cx="8946541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05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Distribution nearly equals sales lift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 dirty="0"/>
            <a:t>10% ACV increase → ~9.7% sales lift</a:t>
          </a:r>
          <a:endParaRPr lang="en-US" sz="1300" kern="1200" dirty="0"/>
        </a:p>
      </dsp:txBody>
      <dsp:txXfrm>
        <a:off x="0" y="3592055"/>
        <a:ext cx="8946541" cy="1089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2F9A2-EED6-9E4E-947B-FEB8D1DC3A7F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CEBA0-2965-5944-82FC-4EDAF870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2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CEBA0-2965-5944-82FC-4EDAF870BB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6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3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4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0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2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9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5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0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128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020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4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388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946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247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58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9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22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des on papers">
            <a:extLst>
              <a:ext uri="{FF2B5EF4-FFF2-40B4-BE49-F238E27FC236}">
                <a16:creationId xmlns:a16="http://schemas.microsoft.com/office/drawing/2014/main" id="{4460829B-EB54-63B2-14B5-6533C32A31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3EDD42-949F-C750-9AC8-4FAE89FFB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71500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en-US" sz="6700" b="1" dirty="0"/>
              <a:t>Evaluating Sales Dynamics for Conagra (2020–2024)</a:t>
            </a:r>
            <a:endParaRPr lang="en-US" sz="6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BF53C-B6F6-EEF4-2EBE-35CEB2011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122295"/>
            <a:ext cx="8825658" cy="194872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MATS Consulting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Shadi Tabba</a:t>
            </a:r>
          </a:p>
          <a:p>
            <a:r>
              <a:rPr lang="en-US" dirty="0">
                <a:solidFill>
                  <a:schemeClr val="tx1"/>
                </a:solidFill>
              </a:rPr>
              <a:t>Manyata Agrawal</a:t>
            </a:r>
          </a:p>
          <a:p>
            <a:r>
              <a:rPr lang="en-US" dirty="0">
                <a:solidFill>
                  <a:schemeClr val="tx1"/>
                </a:solidFill>
              </a:rPr>
              <a:t>Tharun </a:t>
            </a:r>
            <a:r>
              <a:rPr lang="en-US" dirty="0" err="1">
                <a:solidFill>
                  <a:schemeClr val="tx1"/>
                </a:solidFill>
              </a:rPr>
              <a:t>Bedapudi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Akshay Kulkarni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8C9A-E7BB-FF60-F125-B5D349E4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b="1" dirty="0"/>
              <a:t>Why This Project Matters?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4A333-0417-525E-9ACA-B5710CFF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15" y="2780584"/>
            <a:ext cx="5451627" cy="2739442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B02C5C8-EECC-7D1B-A5C1-144E9FB4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729" y="2052214"/>
            <a:ext cx="4979356" cy="419618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The Meat Alternatives Category Is Under Pressure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Plant-based meat sales have declined after the early 2020–2021 boom.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Inflation made plant-based options less competitive vs real meat.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Consumers perceive plant-based meats as processed, reducing appeal.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Novelty has worn off; fewer new customers entering the category.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Competitors like Impossible Foods entered retail aggressively.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2802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1DC23-43C6-0C31-758F-8D1A6B76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Why Is the Category Declining?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403F6D4-BF07-725C-809B-6E641E5F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Consumer + Market Forces Identified: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Inflation raised plant-based prices → reduced value perception</a:t>
            </a:r>
          </a:p>
          <a:p>
            <a:r>
              <a:rPr lang="en-US" dirty="0">
                <a:solidFill>
                  <a:srgbClr val="FFFFFF"/>
                </a:solidFill>
              </a:rPr>
              <a:t>“Processed” image reduces trust</a:t>
            </a:r>
          </a:p>
          <a:p>
            <a:r>
              <a:rPr lang="en-US" dirty="0">
                <a:solidFill>
                  <a:srgbClr val="FFFFFF"/>
                </a:solidFill>
              </a:rPr>
              <a:t>Taste/texture inconsistency leads to trial but not repeat</a:t>
            </a:r>
          </a:p>
          <a:p>
            <a:r>
              <a:rPr lang="en-US" dirty="0">
                <a:solidFill>
                  <a:srgbClr val="FFFFFF"/>
                </a:solidFill>
              </a:rPr>
              <a:t>Early novelty of plant-based options has faded</a:t>
            </a:r>
          </a:p>
          <a:p>
            <a:r>
              <a:rPr lang="en-US" dirty="0">
                <a:solidFill>
                  <a:srgbClr val="FFFFFF"/>
                </a:solidFill>
              </a:rPr>
              <a:t>Consumers prefer familiar, clean ingredients (poultry, eggs, etc.)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ws of shopping trolleys">
            <a:extLst>
              <a:ext uri="{FF2B5EF4-FFF2-40B4-BE49-F238E27FC236}">
                <a16:creationId xmlns:a16="http://schemas.microsoft.com/office/drawing/2014/main" id="{B1F6D8AB-EFEF-1B2F-6DDD-E0BE1ADC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22" r="19522" b="-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8664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1C359-3237-F44D-3894-145F65AF5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anchor="ctr">
            <a:normAutofit/>
          </a:bodyPr>
          <a:lstStyle/>
          <a:p>
            <a:r>
              <a:rPr lang="en-US" sz="4100" b="1" dirty="0">
                <a:solidFill>
                  <a:srgbClr val="EBEBEB"/>
                </a:solidFill>
              </a:rPr>
              <a:t>Low Household Penetration</a:t>
            </a: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6AFC-AEC8-9D41-39D9-8FD8889F9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452" y="1410459"/>
            <a:ext cx="6495847" cy="188514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sz="1700" dirty="0"/>
              <a:t>With only 17.2% of households purchasing meat substitutes, limited consumer engagement presents significant growth challenges for Conagra.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1700" dirty="0"/>
              <a:t>Only 17.2% of households buy meat substitutes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1700" dirty="0"/>
              <a:t>Limited reach = restricted growth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sz="1700" dirty="0"/>
              <a:t>Few new buyers entering the category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endParaRPr lang="en-US" sz="1700" dirty="0"/>
          </a:p>
        </p:txBody>
      </p:sp>
      <p:pic>
        <p:nvPicPr>
          <p:cNvPr id="15" name="Picture 14" descr="A graph showing the amount of meat in the market&#10;&#10;AI-generated content may be incorrect.">
            <a:extLst>
              <a:ext uri="{FF2B5EF4-FFF2-40B4-BE49-F238E27FC236}">
                <a16:creationId xmlns:a16="http://schemas.microsoft.com/office/drawing/2014/main" id="{FEE2D89B-8205-FA5F-204E-6D9B9841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2" y="3562395"/>
            <a:ext cx="5045357" cy="26614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436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ED1F3-4A66-5D6A-5B32-962DCCEB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Competitive Pressure</a:t>
            </a: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34E6-B046-1BF0-4789-B01C1806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dirty="0"/>
              <a:t>With Impossible Foods capturing high-spend buyers rapidly, Conagra must enhance its market presence and consumer appeal.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Category dominated by Morningstar, Beyond, Impossible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Impossible attracting high-spend buyers fastest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Conagra lags in trial &amp; trip rate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dirty="0"/>
              <a:t>Growth requires winning share, not new buyers</a:t>
            </a:r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n-US" dirty="0"/>
          </a:p>
        </p:txBody>
      </p:sp>
      <p:pic>
        <p:nvPicPr>
          <p:cNvPr id="11" name="Picture 10" descr="A graph showing brand names and logos&#10;&#10;AI-generated content may be incorrect.">
            <a:extLst>
              <a:ext uri="{FF2B5EF4-FFF2-40B4-BE49-F238E27FC236}">
                <a16:creationId xmlns:a16="http://schemas.microsoft.com/office/drawing/2014/main" id="{244FE1C5-FC00-2A5E-FEA7-489A75BF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2839205"/>
            <a:ext cx="5451627" cy="308016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02685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DE473-A018-45AE-2D20-47368E05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How We Investigated the Decline?</a:t>
            </a:r>
            <a:endParaRPr lang="en-US" sz="330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72516C0-7251-473A-02B7-AF8B35359C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41" r="33854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2B80-2745-160E-7A20-AF454A947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We analyzed: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Product attributes: form, flavor, package, type, cooking instructions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Brand-level influence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SKU-level unit, dollar, and velocity performance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Machine Learning model (Random Forest feature importance)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Price elasticity modeling (log–log OLS)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ACV impact modeling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Assortment clustering (K-means)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Distribution trend analysis (Conagra vs Impossible)</a:t>
            </a:r>
          </a:p>
        </p:txBody>
      </p:sp>
    </p:spTree>
    <p:extLst>
      <p:ext uri="{BB962C8B-B14F-4D97-AF65-F5344CB8AC3E}">
        <p14:creationId xmlns:p14="http://schemas.microsoft.com/office/powerpoint/2010/main" val="349038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3CD0-52D9-6EFC-CCFC-42398861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b="1"/>
              <a:t>What factors most strongly drive weekly unit sales?</a:t>
            </a:r>
            <a:br>
              <a:rPr lang="en-US" sz="2900"/>
            </a:br>
            <a:endParaRPr lang="en-US" sz="2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0E1FF-2152-3CD1-9B1B-001389BC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Methods used:</a:t>
            </a:r>
          </a:p>
          <a:p>
            <a:r>
              <a:rPr lang="en-US" dirty="0"/>
              <a:t>Attribute analysis</a:t>
            </a:r>
          </a:p>
          <a:p>
            <a:r>
              <a:rPr lang="en-US" dirty="0"/>
              <a:t>Random Forest feature importance</a:t>
            </a:r>
          </a:p>
          <a:p>
            <a:r>
              <a:rPr lang="en-US" dirty="0"/>
              <a:t>SHAP impact summary</a:t>
            </a:r>
          </a:p>
          <a:p>
            <a:r>
              <a:rPr lang="en-US" dirty="0"/>
              <a:t>ACV vs sales relationships</a:t>
            </a:r>
          </a:p>
          <a:p>
            <a:endParaRPr lang="en-US" dirty="0"/>
          </a:p>
        </p:txBody>
      </p: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384D9003-EDE5-4166-DB4F-C58D66F73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8705" y="1853249"/>
            <a:ext cx="4008888" cy="40088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652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66B7-9B19-78A2-A621-3E33BD97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006" y="629266"/>
            <a:ext cx="4985469" cy="14698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Key Drivers Identified (Feature Importance)</a:t>
            </a:r>
            <a:br>
              <a:rPr lang="en-US" sz="3300" b="1"/>
            </a:br>
            <a:endParaRPr lang="en-US" sz="33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A8A13-E807-F987-C12C-C8AAB1914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14" y="806899"/>
            <a:ext cx="4261089" cy="532636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756A-0031-9231-36B6-6E6E5EFF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005" y="2337683"/>
            <a:ext cx="4985470" cy="391071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ACV Weighted Distribution is by far the #1 driver</a:t>
            </a:r>
            <a:br>
              <a:rPr lang="en-US" sz="1400" dirty="0"/>
            </a:br>
            <a:r>
              <a:rPr lang="en-US" sz="1400" dirty="0"/>
              <a:t>→ Accounts for </a:t>
            </a:r>
            <a:r>
              <a:rPr lang="en-US" sz="1400" b="1" dirty="0"/>
              <a:t>~95% of total model importance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Price has a small but real effect</a:t>
            </a:r>
            <a:br>
              <a:rPr lang="en-US" sz="1400" dirty="0"/>
            </a:br>
            <a:r>
              <a:rPr lang="en-US" sz="1400" dirty="0"/>
              <a:t>→ Higher prices reduce sales, but the contribution is </a:t>
            </a:r>
            <a:r>
              <a:rPr lang="en-US" sz="1400" b="1" dirty="0"/>
              <a:t>&lt; 2%</a:t>
            </a:r>
            <a:r>
              <a:rPr lang="en-US" sz="1400" dirty="0"/>
              <a:t> of importance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Top non-price, non-ACV factors: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Flavor: Regular/Original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Form: Burger, Patty, Ground (but small effect)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Package type: box vs resealable bag (minor)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Brand effects (Private Label carries slight advantage)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391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0B609-C516-DAB3-068B-6EDA3359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BEBEB"/>
                </a:solidFill>
              </a:rPr>
              <a:t>What Consumers Are Telling Us?</a:t>
            </a:r>
            <a:br>
              <a:rPr lang="en-US" sz="3600" b="1" dirty="0">
                <a:solidFill>
                  <a:srgbClr val="EBEBEB"/>
                </a:solidFill>
              </a:rPr>
            </a:br>
            <a:endParaRPr lang="en-US" sz="3600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B8BE-85E1-5A7E-35E0-D5B05DB8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Based on our descriptive attribute analysis:</a:t>
            </a:r>
            <a:endParaRPr lang="en-US" b="1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Burgers, ground, tenders, and meatballs sell highest in absolute volume</a:t>
            </a:r>
          </a:p>
          <a:p>
            <a:r>
              <a:rPr lang="en-US" dirty="0">
                <a:solidFill>
                  <a:srgbClr val="FFFFFF"/>
                </a:solidFill>
              </a:rPr>
              <a:t>Regular / Original flavors overperform</a:t>
            </a:r>
          </a:p>
          <a:p>
            <a:r>
              <a:rPr lang="en-US" dirty="0">
                <a:solidFill>
                  <a:srgbClr val="FFFFFF"/>
                </a:solidFill>
              </a:rPr>
              <a:t>Resealable bags outperform boxes</a:t>
            </a:r>
          </a:p>
          <a:p>
            <a:r>
              <a:rPr lang="en-US" dirty="0">
                <a:solidFill>
                  <a:srgbClr val="FFFFFF"/>
                </a:solidFill>
              </a:rPr>
              <a:t>Usage versatility increases sales potential</a:t>
            </a:r>
          </a:p>
          <a:p>
            <a:endParaRPr lang="en-US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But ACV explains far more variation than attributes.</a:t>
            </a: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rgers and milkshakes">
            <a:extLst>
              <a:ext uri="{FF2B5EF4-FFF2-40B4-BE49-F238E27FC236}">
                <a16:creationId xmlns:a16="http://schemas.microsoft.com/office/drawing/2014/main" id="{5AC302C9-597A-76CB-9D73-AAC29A1FF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55" r="23936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781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B93F-F767-F83E-5CE4-42F1911B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b="1" dirty="0"/>
              <a:t>Brand Comparison: Conagra vs Competitors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C10D3D-D7A5-4F3B-E87F-0010906B2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963898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919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D4B6-5A5E-FAFB-E4F6-C5C5C2C9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How does price influence sales and velocity?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D7E8A-B0AC-51DC-1AEE-87702AA68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evaluated:</a:t>
            </a:r>
          </a:p>
          <a:p>
            <a:r>
              <a:rPr lang="en-US" dirty="0"/>
              <a:t>Unit &amp; volume elasticity</a:t>
            </a:r>
          </a:p>
          <a:p>
            <a:r>
              <a:rPr lang="en-US" dirty="0"/>
              <a:t>Price thresholds (banding analysis)</a:t>
            </a:r>
          </a:p>
          <a:p>
            <a:r>
              <a:rPr lang="en-US" dirty="0"/>
              <a:t>Price vs velocity scatter patterns</a:t>
            </a:r>
          </a:p>
          <a:p>
            <a:r>
              <a:rPr lang="en-US" dirty="0"/>
              <a:t>Conagra vs category price positioning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7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F98A-7806-A3EB-5F64-11B62461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Price Elasticity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8F057F-E596-8F11-C280-CE3C578D3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113533"/>
              </p:ext>
            </p:extLst>
          </p:nvPr>
        </p:nvGraphicFramePr>
        <p:xfrm>
          <a:off x="1103312" y="1476260"/>
          <a:ext cx="8946541" cy="4772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9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C0EBB-DC3E-ED18-5198-353E12E7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>
                <a:solidFill>
                  <a:srgbClr val="EBEBEB"/>
                </a:solidFill>
              </a:rPr>
              <a:t>Price Threshold Analysis</a:t>
            </a:r>
            <a:br>
              <a:rPr lang="en-US" sz="3300" b="1">
                <a:solidFill>
                  <a:srgbClr val="EBEBEB"/>
                </a:solidFill>
              </a:rPr>
            </a:br>
            <a:endParaRPr lang="en-US" sz="3300">
              <a:solidFill>
                <a:srgbClr val="EBEBEB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87A2-B96E-2756-EB84-5EBEA8692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Price band insights: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Highest velocity at </a:t>
            </a:r>
            <a:r>
              <a:rPr lang="en-US" b="1" dirty="0"/>
              <a:t>$3.50–$4.50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Sharp decline in velocity after </a:t>
            </a:r>
            <a:r>
              <a:rPr lang="en-US" b="1" dirty="0"/>
              <a:t>$4.75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Premium brands succeed near </a:t>
            </a:r>
            <a:r>
              <a:rPr lang="en-US" b="1" dirty="0"/>
              <a:t>$6.99–$7.25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Prices above $5.50 push items into lower-demand tiers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6B9B5-A0F9-0334-AB23-C25819A37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844" y="2535126"/>
            <a:ext cx="4447404" cy="369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67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DC38-CC33-C4E7-F9A7-89069C59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b="1" dirty="0"/>
              <a:t>Pricing Strategy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632F-7B44-CC5A-5B5A-EF99E1389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r>
              <a:rPr lang="en-US" dirty="0"/>
              <a:t>Keep core pricing between </a:t>
            </a:r>
            <a:r>
              <a:rPr lang="en-US" b="1" dirty="0"/>
              <a:t>$3.50–$4.50</a:t>
            </a:r>
            <a:endParaRPr lang="en-US" dirty="0"/>
          </a:p>
          <a:p>
            <a:r>
              <a:rPr lang="en-US" dirty="0"/>
              <a:t>Avoid heavy discounting—elasticity is low</a:t>
            </a:r>
          </a:p>
          <a:p>
            <a:r>
              <a:rPr lang="en-US" dirty="0"/>
              <a:t>Use promotions strategically on volume SKUs</a:t>
            </a:r>
          </a:p>
          <a:p>
            <a:r>
              <a:rPr lang="en-US" dirty="0"/>
              <a:t>Consider premium-tier offerings (~$7.00+)</a:t>
            </a:r>
          </a:p>
          <a:p>
            <a:r>
              <a:rPr lang="en-US" dirty="0"/>
              <a:t>Price architecture should match SKU role in portfolio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6D2F837B-8A06-FAF1-C896-8D18523FD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4655" y="2145861"/>
            <a:ext cx="4008888" cy="40088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6532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A7C3-7740-B27B-59BA-96374A23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2058253"/>
          </a:xfrm>
        </p:spPr>
        <p:txBody>
          <a:bodyPr/>
          <a:lstStyle/>
          <a:p>
            <a:r>
              <a:rPr lang="en-US" b="1" dirty="0"/>
              <a:t>How should </a:t>
            </a:r>
            <a:r>
              <a:rPr lang="en-US" b="1" dirty="0" err="1"/>
              <a:t>Congara</a:t>
            </a:r>
            <a:r>
              <a:rPr lang="en-US" b="1" dirty="0"/>
              <a:t> optimize its assortment using velocity, ACV, and pricing?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E09C-E3F3-DEBD-3350-6FB395B5E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510970"/>
            <a:ext cx="8946541" cy="37374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Methods used:</a:t>
            </a:r>
          </a:p>
          <a:p>
            <a:r>
              <a:rPr lang="en-US" dirty="0"/>
              <a:t>K-means clustering</a:t>
            </a:r>
          </a:p>
          <a:p>
            <a:r>
              <a:rPr lang="en-US" dirty="0"/>
              <a:t>Velocity per ACV (true demand)</a:t>
            </a:r>
          </a:p>
          <a:p>
            <a:r>
              <a:rPr lang="en-US" dirty="0"/>
              <a:t>Distribution analysis</a:t>
            </a:r>
          </a:p>
          <a:p>
            <a:r>
              <a:rPr lang="en-US" dirty="0"/>
              <a:t>Conagra vs category cluster mapping</a:t>
            </a:r>
          </a:p>
        </p:txBody>
      </p:sp>
    </p:spTree>
    <p:extLst>
      <p:ext uri="{BB962C8B-B14F-4D97-AF65-F5344CB8AC3E}">
        <p14:creationId xmlns:p14="http://schemas.microsoft.com/office/powerpoint/2010/main" val="523460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76E7-3E61-095B-E33E-77C4B673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b="1" dirty="0"/>
              <a:t>Clustering Results (4 Segments)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852B3-FE5F-EDCE-25F3-B31ED945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05" y="2052213"/>
            <a:ext cx="5055646" cy="4196185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D229-E681-8497-BF86-47D3B04D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729" y="2052214"/>
            <a:ext cx="4415293" cy="419618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Cluster 3 — Core Winners</a:t>
            </a: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High velocity, high ACV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Should be expanded and supported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Conagra has </a:t>
            </a:r>
            <a:r>
              <a:rPr lang="en-US" sz="1100" b="1" dirty="0"/>
              <a:t>10 SKUs</a:t>
            </a:r>
            <a:r>
              <a:rPr lang="en-US" sz="1100" dirty="0"/>
              <a:t> here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Cluster 2 — Hidden Gems</a:t>
            </a: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Extremely high velocity, but very low ACV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Huge distribution opportunity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Conagra has </a:t>
            </a:r>
            <a:r>
              <a:rPr lang="en-US" sz="1100" b="1" dirty="0"/>
              <a:t>0 SKUs</a:t>
            </a:r>
            <a:r>
              <a:rPr lang="en-US" sz="1100" dirty="0"/>
              <a:t> here → white space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Cluster 1 — Premium/Niche</a:t>
            </a: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Higher price, moderate velocity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Supports special occasions, not core growth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Cluster 0 — Underperformers</a:t>
            </a: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Low ACV + low velocity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Conagra has </a:t>
            </a:r>
            <a:r>
              <a:rPr lang="en-US" sz="1100" b="1" dirty="0"/>
              <a:t>44 SKUs</a:t>
            </a:r>
            <a:r>
              <a:rPr lang="en-US" sz="1100" dirty="0"/>
              <a:t> here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Ideal candidates for rationalization</a:t>
            </a:r>
          </a:p>
        </p:txBody>
      </p:sp>
    </p:spTree>
    <p:extLst>
      <p:ext uri="{BB962C8B-B14F-4D97-AF65-F5344CB8AC3E}">
        <p14:creationId xmlns:p14="http://schemas.microsoft.com/office/powerpoint/2010/main" val="290886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45AD6-C1C2-9EF0-73C2-F47FDCAD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>
                <a:solidFill>
                  <a:srgbClr val="EBEBEB"/>
                </a:solidFill>
              </a:rPr>
              <a:t>Competitive Distribution Insights</a:t>
            </a:r>
            <a:br>
              <a:rPr lang="en-US" sz="3300" b="1">
                <a:solidFill>
                  <a:srgbClr val="EBEBEB"/>
                </a:solidFill>
              </a:rPr>
            </a:br>
            <a:endParaRPr lang="en-US" sz="3300">
              <a:solidFill>
                <a:srgbClr val="EBEBEB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F408C-0895-778F-CDF9-5E02C475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2352645"/>
            <a:ext cx="5449889" cy="2152706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695C5-4A46-19A0-198F-F0F7B108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Impossible’s distribution surge is the primary reason behind its growth</a:t>
            </a:r>
          </a:p>
          <a:p>
            <a:r>
              <a:rPr lang="en-US" dirty="0">
                <a:solidFill>
                  <a:srgbClr val="EBEBEB"/>
                </a:solidFill>
              </a:rPr>
              <a:t>Conagra shows stable but flat ACV over 4 years</a:t>
            </a:r>
          </a:p>
          <a:p>
            <a:r>
              <a:rPr lang="en-US" dirty="0">
                <a:solidFill>
                  <a:srgbClr val="EBEBEB"/>
                </a:solidFill>
              </a:rPr>
              <a:t>Distribution gaps explain most performance differences</a:t>
            </a:r>
          </a:p>
          <a:p>
            <a:r>
              <a:rPr lang="en-US" dirty="0">
                <a:solidFill>
                  <a:srgbClr val="EBEBEB"/>
                </a:solidFill>
              </a:rPr>
              <a:t>ACV improvement offers immediate incremental units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2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BDFAD8-C6F5-D17D-0E25-E3F5C7A9B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What Can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825F-1579-32AE-7FB1-542104654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Maximize Distribution (Top Priority)</a:t>
            </a:r>
          </a:p>
          <a:p>
            <a:r>
              <a:rPr lang="en-US" b="1" dirty="0">
                <a:solidFill>
                  <a:srgbClr val="FFFFFF"/>
                </a:solidFill>
              </a:rPr>
              <a:t>Optimize Pricing Strategy</a:t>
            </a:r>
          </a:p>
          <a:p>
            <a:r>
              <a:rPr lang="en-US" b="1" dirty="0">
                <a:solidFill>
                  <a:srgbClr val="FFFFFF"/>
                </a:solidFill>
              </a:rPr>
              <a:t>Strengthen Assortment Discipline</a:t>
            </a: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CDD52FE1-C452-E91E-A5E9-2444A72A9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03" r="8088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2661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DA7AA-01DA-F371-BA2B-93C07B02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Maximize Distribution </a:t>
            </a:r>
            <a:br>
              <a:rPr lang="en-US" sz="3300" b="1"/>
            </a:br>
            <a:endParaRPr lang="en-US" sz="3300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helves of food on shelves in a store&#10;&#10;AI-generated content may be incorrect.">
            <a:extLst>
              <a:ext uri="{FF2B5EF4-FFF2-40B4-BE49-F238E27FC236}">
                <a16:creationId xmlns:a16="http://schemas.microsoft.com/office/drawing/2014/main" id="{094017F4-BE00-A8B5-BCFE-1EA58784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9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A33EE-41DB-6510-8B4F-E80B46B6B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>
            <a:normAutofit/>
          </a:bodyPr>
          <a:lstStyle/>
          <a:p>
            <a:r>
              <a:rPr lang="en-US"/>
              <a:t>ACV is the strongest sales driver (~95% importance; elasticity ≈ +1.0)</a:t>
            </a:r>
          </a:p>
          <a:p>
            <a:r>
              <a:rPr lang="en-US"/>
              <a:t>Expand ACV for </a:t>
            </a:r>
            <a:r>
              <a:rPr lang="en-US" b="1"/>
              <a:t>Cluster 3 core SKUs</a:t>
            </a:r>
            <a:endParaRPr lang="en-US"/>
          </a:p>
          <a:p>
            <a:r>
              <a:rPr lang="en-US"/>
              <a:t>Close the distribution gap vs Impossible</a:t>
            </a:r>
          </a:p>
          <a:p>
            <a:r>
              <a:rPr lang="en-US"/>
              <a:t>Use velocity-per-ACV data to secure more facings</a:t>
            </a:r>
          </a:p>
          <a:p>
            <a:r>
              <a:rPr lang="en-US"/>
              <a:t>Reduce or remove distribution for low-productivity SKUs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060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835DB-B3F7-16A8-E4F5-057AD9EA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Optimize Pricing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D2C4-629F-F408-0ADA-B2BBE56FD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rgbClr val="FFFFFF"/>
                </a:solidFill>
              </a:rPr>
              <a:t>Maintain mainstream pricing in </a:t>
            </a:r>
            <a:r>
              <a:rPr lang="en-US" b="1" dirty="0">
                <a:solidFill>
                  <a:srgbClr val="FFFFFF"/>
                </a:solidFill>
              </a:rPr>
              <a:t>$3.50–$4.50 sweet spot</a:t>
            </a:r>
            <a:endParaRPr lang="en-US" dirty="0">
              <a:solidFill>
                <a:srgbClr val="FFFFFF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FFFF"/>
                </a:solidFill>
              </a:rPr>
              <a:t>Avoid unnecessary discounting — unit elasticity is small (–0.44)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FFFF"/>
                </a:solidFill>
              </a:rPr>
              <a:t>Promote </a:t>
            </a:r>
            <a:r>
              <a:rPr lang="en-US" b="1" dirty="0">
                <a:solidFill>
                  <a:srgbClr val="FFFFFF"/>
                </a:solidFill>
              </a:rPr>
              <a:t>volume/value packs</a:t>
            </a:r>
            <a:r>
              <a:rPr lang="en-US" dirty="0">
                <a:solidFill>
                  <a:srgbClr val="FFFFFF"/>
                </a:solidFill>
              </a:rPr>
              <a:t>, which are more price sensitive (elasticity –1.09)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FFFF"/>
                </a:solidFill>
              </a:rPr>
              <a:t>Explore </a:t>
            </a:r>
            <a:r>
              <a:rPr lang="en-US" b="1" dirty="0">
                <a:solidFill>
                  <a:srgbClr val="FFFFFF"/>
                </a:solidFill>
              </a:rPr>
              <a:t>premium-tier items at $6.99+</a:t>
            </a:r>
            <a:r>
              <a:rPr lang="en-US" dirty="0">
                <a:solidFill>
                  <a:srgbClr val="FFFFFF"/>
                </a:solidFill>
              </a:rPr>
              <a:t> with higher protein, culinary positioning, and upgraded packaging</a:t>
            </a:r>
          </a:p>
          <a:p>
            <a:pPr>
              <a:buClr>
                <a:schemeClr val="tx1"/>
              </a:buClr>
            </a:pPr>
            <a:endParaRPr lang="en-US" dirty="0">
              <a:solidFill>
                <a:srgbClr val="FFFFFF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rgbClr val="FFFFFF"/>
                </a:solidFill>
              </a:rPr>
              <a:t>Introduce </a:t>
            </a:r>
            <a:r>
              <a:rPr lang="en-US" dirty="0" err="1">
                <a:solidFill>
                  <a:srgbClr val="FFFFFF"/>
                </a:solidFill>
              </a:rPr>
              <a:t>Gardein</a:t>
            </a:r>
            <a:r>
              <a:rPr lang="en-US" dirty="0">
                <a:solidFill>
                  <a:srgbClr val="FFFFFF"/>
                </a:solidFill>
              </a:rPr>
              <a:t> Essentials and Premium Lines </a:t>
            </a: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hand holding a stack of wooden blocks&#10;&#10;AI-generated content may be incorrect.">
            <a:extLst>
              <a:ext uri="{FF2B5EF4-FFF2-40B4-BE49-F238E27FC236}">
                <a16:creationId xmlns:a16="http://schemas.microsoft.com/office/drawing/2014/main" id="{0B81A3EF-1DC2-E2A8-7DF2-70F1DBC5F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95" r="25834" b="-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89828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26917-C69D-0812-6581-0A0FC61F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Strengthen Assortment Discipline</a:t>
            </a: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4CDC-89F2-4452-C72E-5CD5ABE3C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/>
              <a:t>Rationalize Cluster 0 SKUs</a:t>
            </a:r>
            <a:r>
              <a:rPr lang="en-US" dirty="0"/>
              <a:t> (low ACV + low velocity)</a:t>
            </a:r>
          </a:p>
          <a:p>
            <a:pPr>
              <a:buClr>
                <a:schemeClr val="tx1"/>
              </a:buClr>
            </a:pPr>
            <a:r>
              <a:rPr lang="en-US" dirty="0"/>
              <a:t>Expand distribution and support for </a:t>
            </a:r>
            <a:r>
              <a:rPr lang="en-US" b="1" dirty="0"/>
              <a:t>Cluster 3 core winners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Innovate into </a:t>
            </a:r>
            <a:r>
              <a:rPr lang="en-US" b="1" dirty="0"/>
              <a:t>Cluster 2 whitespace</a:t>
            </a:r>
            <a:r>
              <a:rPr lang="en-US" dirty="0"/>
              <a:t> — high velocity, low distribution formats</a:t>
            </a:r>
          </a:p>
          <a:p>
            <a:pPr>
              <a:buClr>
                <a:schemeClr val="tx1"/>
              </a:buClr>
            </a:pPr>
            <a:r>
              <a:rPr lang="en-US" dirty="0"/>
              <a:t>Maintain selective premium items (Cluster 1) without overexpansion</a:t>
            </a:r>
          </a:p>
          <a:p>
            <a:pPr>
              <a:buClr>
                <a:schemeClr val="tx1"/>
              </a:buClr>
            </a:pPr>
            <a:r>
              <a:rPr lang="en-US" dirty="0"/>
              <a:t>Reduce SKU redundancy in similar forms/flavors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  <p:pic>
        <p:nvPicPr>
          <p:cNvPr id="7" name="Picture 6" descr="A magnifying glass and boxes&#10;&#10;AI-generated content may be incorrect.">
            <a:extLst>
              <a:ext uri="{FF2B5EF4-FFF2-40B4-BE49-F238E27FC236}">
                <a16:creationId xmlns:a16="http://schemas.microsoft.com/office/drawing/2014/main" id="{65D0302B-8DDF-BA29-4305-26BA047D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2961867"/>
            <a:ext cx="5451627" cy="28348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46168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576BB482-2B93-434C-1AA1-F46DC0CF03C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CF1F1-1F9A-BA26-C63E-F5E19BD71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59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249</TotalTime>
  <Words>1000</Words>
  <Application>Microsoft Macintosh PowerPoint</Application>
  <PresentationFormat>Widescreen</PresentationFormat>
  <Paragraphs>151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Century Gothic</vt:lpstr>
      <vt:lpstr>Wingdings 3</vt:lpstr>
      <vt:lpstr>Ion</vt:lpstr>
      <vt:lpstr>Evaluating Sales Dynamics for Conagra (2020–2024)</vt:lpstr>
      <vt:lpstr>Why This Project Matters?</vt:lpstr>
      <vt:lpstr>Why Is the Category Declining?</vt:lpstr>
      <vt:lpstr>Low Household Penetration</vt:lpstr>
      <vt:lpstr>Competitive Pressure</vt:lpstr>
      <vt:lpstr>How We Investigated the Decline?</vt:lpstr>
      <vt:lpstr>What factors most strongly drive weekly unit sales? </vt:lpstr>
      <vt:lpstr>Key Drivers Identified (Feature Importance) </vt:lpstr>
      <vt:lpstr>What Consumers Are Telling Us? </vt:lpstr>
      <vt:lpstr>Brand Comparison: Conagra vs Competitors</vt:lpstr>
      <vt:lpstr>How does price influence sales and velocity?</vt:lpstr>
      <vt:lpstr>Price Elasticity Results</vt:lpstr>
      <vt:lpstr>Price Threshold Analysis </vt:lpstr>
      <vt:lpstr>Pricing Strategy Implications</vt:lpstr>
      <vt:lpstr>How should Congara optimize its assortment using velocity, ACV, and pricing?</vt:lpstr>
      <vt:lpstr>Clustering Results (4 Segments)</vt:lpstr>
      <vt:lpstr>Competitive Distribution Insights </vt:lpstr>
      <vt:lpstr>What Can We Do?</vt:lpstr>
      <vt:lpstr>Maximize Distribution  </vt:lpstr>
      <vt:lpstr>Optimize Pricing Strategy</vt:lpstr>
      <vt:lpstr>Strengthen Assortment Discipline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Shadi Tabba</dc:creator>
  <cp:lastModifiedBy>Shadi Tabba</cp:lastModifiedBy>
  <cp:revision>9</cp:revision>
  <dcterms:created xsi:type="dcterms:W3CDTF">2025-12-10T12:36:26Z</dcterms:created>
  <dcterms:modified xsi:type="dcterms:W3CDTF">2025-12-13T05:26:17Z</dcterms:modified>
</cp:coreProperties>
</file>